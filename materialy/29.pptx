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gRCnfCRulrIngN3U4xekUx3Z2X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sk-SK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/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" type="subTitle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6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7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8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8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8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9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0"/>
          <p:cNvSpPr txBox="1"/>
          <p:nvPr>
            <p:ph type="title"/>
          </p:nvPr>
        </p:nvSpPr>
        <p:spPr>
          <a:xfrm>
            <a:off x="603381" y="553616"/>
            <a:ext cx="8273140" cy="4008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1" type="body"/>
          </p:nvPr>
        </p:nvSpPr>
        <p:spPr>
          <a:xfrm>
            <a:off x="603380" y="4589463"/>
            <a:ext cx="8273140" cy="13846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40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0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0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1"/>
          <p:cNvSpPr txBox="1"/>
          <p:nvPr>
            <p:ph type="title"/>
          </p:nvPr>
        </p:nvSpPr>
        <p:spPr>
          <a:xfrm>
            <a:off x="612648" y="548640"/>
            <a:ext cx="10741152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1" type="body"/>
          </p:nvPr>
        </p:nvSpPr>
        <p:spPr>
          <a:xfrm>
            <a:off x="612648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4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1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2"/>
          <p:cNvSpPr txBox="1"/>
          <p:nvPr>
            <p:ph type="title"/>
          </p:nvPr>
        </p:nvSpPr>
        <p:spPr>
          <a:xfrm>
            <a:off x="609600" y="547396"/>
            <a:ext cx="10745788" cy="1143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2"/>
          <p:cNvSpPr txBox="1"/>
          <p:nvPr>
            <p:ph idx="1" type="body"/>
          </p:nvPr>
        </p:nvSpPr>
        <p:spPr>
          <a:xfrm>
            <a:off x="609600" y="1685735"/>
            <a:ext cx="5157787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42"/>
          <p:cNvSpPr txBox="1"/>
          <p:nvPr>
            <p:ph idx="2" type="body"/>
          </p:nvPr>
        </p:nvSpPr>
        <p:spPr>
          <a:xfrm>
            <a:off x="609600" y="2386894"/>
            <a:ext cx="5157787" cy="376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3" type="body"/>
          </p:nvPr>
        </p:nvSpPr>
        <p:spPr>
          <a:xfrm>
            <a:off x="6172200" y="1685735"/>
            <a:ext cx="5183188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2"/>
          <p:cNvSpPr txBox="1"/>
          <p:nvPr>
            <p:ph idx="4" type="body"/>
          </p:nvPr>
        </p:nvSpPr>
        <p:spPr>
          <a:xfrm>
            <a:off x="6172199" y="2386894"/>
            <a:ext cx="5183189" cy="376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42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2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3"/>
          <p:cNvSpPr txBox="1"/>
          <p:nvPr>
            <p:ph type="title"/>
          </p:nvPr>
        </p:nvSpPr>
        <p:spPr>
          <a:xfrm>
            <a:off x="597160" y="553616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" type="body"/>
          </p:nvPr>
        </p:nvSpPr>
        <p:spPr>
          <a:xfrm>
            <a:off x="5134708" y="553616"/>
            <a:ext cx="6279741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3"/>
          <p:cNvSpPr txBox="1"/>
          <p:nvPr>
            <p:ph idx="2" type="body"/>
          </p:nvPr>
        </p:nvSpPr>
        <p:spPr>
          <a:xfrm>
            <a:off x="597160" y="2311121"/>
            <a:ext cx="3595634" cy="3728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3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3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3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4"/>
          <p:cNvSpPr txBox="1"/>
          <p:nvPr>
            <p:ph type="title"/>
          </p:nvPr>
        </p:nvSpPr>
        <p:spPr>
          <a:xfrm>
            <a:off x="594360" y="557784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/>
          <p:nvPr>
            <p:ph idx="2" type="pic"/>
          </p:nvPr>
        </p:nvSpPr>
        <p:spPr>
          <a:xfrm>
            <a:off x="5063319" y="657103"/>
            <a:ext cx="6483687" cy="5555904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4"/>
          <p:cNvSpPr txBox="1"/>
          <p:nvPr>
            <p:ph idx="1" type="body"/>
          </p:nvPr>
        </p:nvSpPr>
        <p:spPr>
          <a:xfrm>
            <a:off x="609601" y="2826137"/>
            <a:ext cx="3585586" cy="3434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4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5"/>
          <p:cNvSpPr txBox="1"/>
          <p:nvPr>
            <p:ph type="title"/>
          </p:nvPr>
        </p:nvSpPr>
        <p:spPr>
          <a:xfrm>
            <a:off x="612648" y="548640"/>
            <a:ext cx="10515600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5"/>
          <p:cNvSpPr txBox="1"/>
          <p:nvPr>
            <p:ph idx="1" type="body"/>
          </p:nvPr>
        </p:nvSpPr>
        <p:spPr>
          <a:xfrm rot="5400000">
            <a:off x="3622415" y="-1328869"/>
            <a:ext cx="4496065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5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5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6"/>
          <p:cNvSpPr txBox="1"/>
          <p:nvPr>
            <p:ph type="title"/>
          </p:nvPr>
        </p:nvSpPr>
        <p:spPr>
          <a:xfrm rot="5400000">
            <a:off x="7859174" y="2354212"/>
            <a:ext cx="5598466" cy="2047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6"/>
          <p:cNvSpPr txBox="1"/>
          <p:nvPr>
            <p:ph idx="1" type="body"/>
          </p:nvPr>
        </p:nvSpPr>
        <p:spPr>
          <a:xfrm rot="5400000">
            <a:off x="2437312" y="-1020615"/>
            <a:ext cx="5598465" cy="8796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6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6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6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>
            <p:ph type="ctrTitle"/>
          </p:nvPr>
        </p:nvSpPr>
        <p:spPr>
          <a:xfrm>
            <a:off x="7843394" y="1585762"/>
            <a:ext cx="3788767" cy="2811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sk-SK" sz="4400"/>
              <a:t>Vetné členy</a:t>
            </a:r>
            <a:endParaRPr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7843395" y="4524046"/>
            <a:ext cx="3614857" cy="1319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Ružová a modrý akryl kresliť" id="92" name="Google Shape;92;p1"/>
          <p:cNvPicPr preferRelativeResize="0"/>
          <p:nvPr/>
        </p:nvPicPr>
        <p:blipFill rotWithShape="1">
          <a:blip r:embed="rId3">
            <a:alphaModFix/>
          </a:blip>
          <a:srcRect b="0" l="23215" r="2387" t="0"/>
          <a:stretch/>
        </p:blipFill>
        <p:spPr>
          <a:xfrm>
            <a:off x="2" y="10"/>
            <a:ext cx="7367752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sk-SK"/>
              <a:t>Vetné členy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sk-SK" sz="2800"/>
              <a:t>pomenúvajú vzťahy vo vete.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sk-SK" sz="2800"/>
              <a:t>Každá veta má slová, ktoré sú významovo dôležitejšie a slová, ktoré ich dopĺňajú.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sk-SK" sz="2800"/>
              <a:t>Na základe toho poznáme vetné členy: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AutoNum type="alphaLcParenR"/>
            </a:pPr>
            <a:r>
              <a:rPr b="1" lang="sk-SK" sz="2800">
                <a:solidFill>
                  <a:srgbClr val="FF0000"/>
                </a:solidFill>
              </a:rPr>
              <a:t>HLAVNÉ – podmet, prísudok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2D6C55"/>
              </a:buClr>
              <a:buSzPts val="2800"/>
              <a:buAutoNum type="alphaLcParenR"/>
            </a:pPr>
            <a:r>
              <a:rPr b="1" lang="sk-SK" sz="2800">
                <a:solidFill>
                  <a:srgbClr val="2D6C55"/>
                </a:solidFill>
              </a:rPr>
              <a:t>VEDĽAJŠIE – predmet, príslovkové určenie, prívlastok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k-SK" sz="2800"/>
              <a:t>- Osobitná skupina - prístavok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662344" y="1154927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6C55"/>
              </a:buClr>
              <a:buSzPct val="100000"/>
              <a:buFont typeface="Arial"/>
              <a:buNone/>
            </a:pPr>
            <a:r>
              <a:rPr lang="sk-SK" sz="7200">
                <a:solidFill>
                  <a:srgbClr val="2D6C55"/>
                </a:solidFill>
              </a:rPr>
              <a:t>PODMET</a:t>
            </a:r>
            <a:br>
              <a:rPr lang="sk-SK" sz="7200">
                <a:solidFill>
                  <a:srgbClr val="2D6C55"/>
                </a:solidFill>
              </a:rPr>
            </a:br>
            <a:endParaRPr sz="7200">
              <a:solidFill>
                <a:srgbClr val="2D6C5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6C55"/>
              </a:buClr>
              <a:buSzPts val="4800"/>
              <a:buFont typeface="Arial"/>
              <a:buNone/>
            </a:pPr>
            <a:r>
              <a:rPr lang="sk-SK" sz="4800">
                <a:solidFill>
                  <a:srgbClr val="2D6C55"/>
                </a:solidFill>
              </a:rPr>
              <a:t>PODMET</a:t>
            </a:r>
            <a:endParaRPr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612647" y="1715532"/>
            <a:ext cx="11294650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sk-SK" sz="2400"/>
              <a:t>Pomenúva, kto alebo čo vykonáva činnosť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sk-SK" sz="2400"/>
              <a:t>Pýtame sa : </a:t>
            </a:r>
            <a:r>
              <a:rPr b="1" lang="sk-SK" sz="2400">
                <a:solidFill>
                  <a:srgbClr val="B93A1C"/>
                </a:solidFill>
              </a:rPr>
              <a:t>KTO? ČO?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k-SK" sz="2400" u="sng"/>
              <a:t>ÚLOHU PODMETU </a:t>
            </a:r>
            <a:r>
              <a:rPr lang="sk-SK" sz="2400"/>
              <a:t>môže mať: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93A1C"/>
              </a:buClr>
              <a:buSzPts val="2400"/>
              <a:buAutoNum type="alphaLcParenR"/>
            </a:pPr>
            <a:r>
              <a:rPr b="1" lang="sk-SK" sz="2400">
                <a:solidFill>
                  <a:srgbClr val="B93A1C"/>
                </a:solidFill>
              </a:rPr>
              <a:t>Podstatné meno: </a:t>
            </a:r>
            <a:r>
              <a:rPr lang="sk-SK" sz="2400"/>
              <a:t>	Otec varí.		     	     KTO? Otec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93A1C"/>
              </a:buClr>
              <a:buSzPts val="2400"/>
              <a:buAutoNum type="alphaLcParenR"/>
            </a:pPr>
            <a:r>
              <a:rPr b="1" lang="sk-SK" sz="2400">
                <a:solidFill>
                  <a:srgbClr val="B93A1C"/>
                </a:solidFill>
              </a:rPr>
              <a:t>Prídavné meno:</a:t>
            </a:r>
            <a:r>
              <a:rPr lang="sk-SK" sz="2400"/>
              <a:t>	Tichý neprišiel.		     KTO? Tichý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93A1C"/>
              </a:buClr>
              <a:buSzPts val="2400"/>
              <a:buAutoNum type="alphaLcParenR"/>
            </a:pPr>
            <a:r>
              <a:rPr b="1" lang="sk-SK" sz="2400">
                <a:solidFill>
                  <a:srgbClr val="B93A1C"/>
                </a:solidFill>
              </a:rPr>
              <a:t>Zámeno: </a:t>
            </a:r>
            <a:r>
              <a:rPr lang="sk-SK" sz="2400"/>
              <a:t>		           On počúva.		     	     KTO? On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93A1C"/>
              </a:buClr>
              <a:buSzPts val="2400"/>
              <a:buAutoNum type="alphaLcParenR"/>
            </a:pPr>
            <a:r>
              <a:rPr b="1" lang="sk-SK" sz="2400">
                <a:solidFill>
                  <a:srgbClr val="B93A1C"/>
                </a:solidFill>
              </a:rPr>
              <a:t>Číslovka: </a:t>
            </a:r>
            <a:r>
              <a:rPr lang="sk-SK" sz="2400"/>
              <a:t>		Štyria meškali.		     KTO? Štyria 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93A1C"/>
              </a:buClr>
              <a:buSzPts val="2400"/>
              <a:buAutoNum type="alphaLcParenR"/>
            </a:pPr>
            <a:r>
              <a:rPr b="1" lang="sk-SK" sz="2400">
                <a:solidFill>
                  <a:srgbClr val="B93A1C"/>
                </a:solidFill>
              </a:rPr>
              <a:t>Neurčitok slovesa:	</a:t>
            </a:r>
            <a:r>
              <a:rPr lang="sk-SK" sz="2400"/>
              <a:t>Rozprávať je zakázané.	     KTO? ČO? Rozprávať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sk-SK"/>
              <a:t>PODMET - </a:t>
            </a:r>
            <a:r>
              <a:rPr lang="sk-SK" sz="3200"/>
              <a:t>rozdelenie</a:t>
            </a:r>
            <a:endParaRPr/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sk-SK" sz="2400"/>
              <a:t>Podmet môže byť: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R"/>
            </a:pPr>
            <a:r>
              <a:rPr b="1" lang="sk-SK" sz="2400"/>
              <a:t>Vyjadrený</a:t>
            </a:r>
            <a:r>
              <a:rPr lang="sk-SK" sz="2400"/>
              <a:t> – je ním konkrétne slovo vo vete.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k-SK" sz="2400"/>
              <a:t>        		 </a:t>
            </a:r>
            <a:r>
              <a:rPr lang="sk-SK" sz="2400">
                <a:highlight>
                  <a:srgbClr val="FFFF00"/>
                </a:highlight>
              </a:rPr>
              <a:t>Otec </a:t>
            </a:r>
            <a:r>
              <a:rPr lang="sk-SK" sz="2400"/>
              <a:t>varí sviečkovú.		Kto varí? Otec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k-SK" sz="2400"/>
              <a:t>b)    </a:t>
            </a:r>
            <a:r>
              <a:rPr b="1" lang="sk-SK" sz="2400"/>
              <a:t>Nevyjadrený</a:t>
            </a:r>
            <a:r>
              <a:rPr lang="sk-SK" sz="2400"/>
              <a:t> – nenachádza sa priamo vo vete, ale vieme ho doplniť. Najčastejšie zámenom.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k-SK" sz="2400"/>
              <a:t>		Navštíviš ma niekedy? </a:t>
            </a:r>
            <a:r>
              <a:rPr lang="sk-SK" sz="2400">
                <a:highlight>
                  <a:srgbClr val="FFFF00"/>
                </a:highlight>
              </a:rPr>
              <a:t>(ty)</a:t>
            </a:r>
            <a:r>
              <a:rPr lang="sk-SK" sz="2400"/>
              <a:t>	Kto ma navštívi? 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sk-SK"/>
              <a:t>Podmet vo vete môže byť:</a:t>
            </a:r>
            <a:endParaRPr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612647" y="1316334"/>
            <a:ext cx="10653579" cy="4993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6C55"/>
              </a:buClr>
              <a:buSzPts val="2400"/>
              <a:buAutoNum type="alphaLcParenR"/>
            </a:pPr>
            <a:r>
              <a:rPr b="1" lang="sk-SK" sz="2400">
                <a:solidFill>
                  <a:srgbClr val="2D6C55"/>
                </a:solidFill>
              </a:rPr>
              <a:t>HOLÝ</a:t>
            </a:r>
            <a:r>
              <a:rPr lang="sk-SK" sz="2400"/>
              <a:t> – nerozvíja ho žiadne iné slovo.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k-SK" sz="2400"/>
              <a:t>	        </a:t>
            </a:r>
            <a:r>
              <a:rPr lang="sk-SK" sz="2400" u="sng"/>
              <a:t>Michal</a:t>
            </a:r>
            <a:r>
              <a:rPr lang="sk-SK" sz="2400"/>
              <a:t> sa vyštveral na strom.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2D6C55"/>
              </a:buClr>
              <a:buSzPts val="2400"/>
              <a:buAutoNum type="alphaLcParenR" startAt="2"/>
            </a:pPr>
            <a:r>
              <a:rPr b="1" lang="sk-SK" sz="2400">
                <a:solidFill>
                  <a:srgbClr val="2D6C55"/>
                </a:solidFill>
              </a:rPr>
              <a:t>ROZVITÝ</a:t>
            </a:r>
            <a:r>
              <a:rPr lang="sk-SK" sz="2400"/>
              <a:t> – rozvíja ho najčastejšie prídavné meno, zámeno, číslovka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k-SK" sz="2400"/>
              <a:t>	        </a:t>
            </a:r>
            <a:r>
              <a:rPr lang="sk-SK" sz="2400">
                <a:highlight>
                  <a:srgbClr val="FFFF00"/>
                </a:highlight>
              </a:rPr>
              <a:t>Náš</a:t>
            </a:r>
            <a:r>
              <a:rPr lang="sk-SK" sz="2400"/>
              <a:t> </a:t>
            </a:r>
            <a:r>
              <a:rPr lang="sk-SK" sz="2400" u="sng"/>
              <a:t>Michal</a:t>
            </a:r>
            <a:r>
              <a:rPr lang="sk-SK" sz="2400"/>
              <a:t> sa vyštveral na strom.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k-SK" sz="2400"/>
              <a:t>	        </a:t>
            </a:r>
            <a:r>
              <a:rPr lang="sk-SK" sz="2400">
                <a:highlight>
                  <a:srgbClr val="FFFF00"/>
                </a:highlight>
              </a:rPr>
              <a:t>Malý</a:t>
            </a:r>
            <a:r>
              <a:rPr lang="sk-SK" sz="2400"/>
              <a:t> </a:t>
            </a:r>
            <a:r>
              <a:rPr lang="sk-SK" sz="2400" u="sng"/>
              <a:t>Michal</a:t>
            </a:r>
            <a:r>
              <a:rPr lang="sk-SK" sz="2400"/>
              <a:t> sa vyštveral na strom.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k-SK" sz="2400"/>
              <a:t>	        </a:t>
            </a:r>
            <a:r>
              <a:rPr lang="sk-SK" sz="2400">
                <a:highlight>
                  <a:srgbClr val="FFFF00"/>
                </a:highlight>
              </a:rPr>
              <a:t>Posledný</a:t>
            </a:r>
            <a:r>
              <a:rPr lang="sk-SK" sz="2400"/>
              <a:t> </a:t>
            </a:r>
            <a:r>
              <a:rPr lang="sk-SK" sz="2400" u="sng"/>
              <a:t>Michal</a:t>
            </a:r>
            <a:r>
              <a:rPr lang="sk-SK" sz="2400"/>
              <a:t> sa vyštveral na strom.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k-SK" sz="2400"/>
              <a:t>c) </a:t>
            </a:r>
            <a:r>
              <a:rPr b="1" lang="sk-SK" sz="2400">
                <a:solidFill>
                  <a:srgbClr val="2D6C55"/>
                </a:solidFill>
              </a:rPr>
              <a:t>VIACNÁSOBNÝ</a:t>
            </a:r>
            <a:r>
              <a:rPr lang="sk-SK" sz="2400"/>
              <a:t> – vo vete je viac podmetov, ktoré spolu súvisia. Sú oddelené čiarkou alebo spojené spojkou.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k-SK" sz="2400"/>
              <a:t>	         </a:t>
            </a:r>
            <a:r>
              <a:rPr lang="sk-SK" sz="2400" u="sng"/>
              <a:t>Michal, Roman a Jozef</a:t>
            </a:r>
            <a:r>
              <a:rPr lang="sk-SK" sz="2400"/>
              <a:t> sa vyštverali na strom.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811430" y="2248232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93A1C"/>
              </a:buClr>
              <a:buSzPts val="6600"/>
              <a:buFont typeface="Arial"/>
              <a:buNone/>
            </a:pPr>
            <a:r>
              <a:rPr lang="sk-SK" sz="6600">
                <a:solidFill>
                  <a:srgbClr val="B93A1C"/>
                </a:solidFill>
              </a:rPr>
              <a:t>PRÍSUDOK</a:t>
            </a:r>
            <a:endParaRPr sz="6600">
              <a:solidFill>
                <a:srgbClr val="B93A1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title"/>
          </p:nvPr>
        </p:nvSpPr>
        <p:spPr>
          <a:xfrm>
            <a:off x="582199" y="227093"/>
            <a:ext cx="10653578" cy="586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5322"/>
              </a:buClr>
              <a:buSzPts val="3600"/>
              <a:buFont typeface="Arial"/>
              <a:buNone/>
            </a:pPr>
            <a:r>
              <a:rPr lang="sk-SK">
                <a:solidFill>
                  <a:srgbClr val="D85322"/>
                </a:solidFill>
              </a:rPr>
              <a:t>PRÍSUDOK</a:t>
            </a:r>
            <a:endParaRPr/>
          </a:p>
        </p:txBody>
      </p:sp>
      <p:sp>
        <p:nvSpPr>
          <p:cNvPr id="132" name="Google Shape;132;p8"/>
          <p:cNvSpPr txBox="1"/>
          <p:nvPr>
            <p:ph idx="1" type="body"/>
          </p:nvPr>
        </p:nvSpPr>
        <p:spPr>
          <a:xfrm>
            <a:off x="612647" y="1004835"/>
            <a:ext cx="11354940" cy="530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sk-SK" sz="2400"/>
              <a:t>Pomenúva vo vete činnosť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sk-SK" sz="2400"/>
              <a:t>Pýtame sa: </a:t>
            </a:r>
            <a:r>
              <a:rPr b="1" lang="sk-SK" sz="2400"/>
              <a:t>Čo robí? Čo sa s ním deje?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sk-SK" sz="2400"/>
              <a:t>Prísudok môže byť: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85322"/>
              </a:buClr>
              <a:buSzPct val="100000"/>
              <a:buAutoNum type="alphaLcParenR"/>
            </a:pPr>
            <a:r>
              <a:rPr b="1" lang="sk-SK" sz="2400">
                <a:solidFill>
                  <a:srgbClr val="D85322"/>
                </a:solidFill>
              </a:rPr>
              <a:t>Slovesný</a:t>
            </a:r>
            <a:r>
              <a:rPr lang="sk-SK" sz="2400"/>
              <a:t> – vyjadrený slovesom alebo skupinou slovies.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sk-SK" sz="2400"/>
              <a:t>		Otec </a:t>
            </a:r>
            <a:r>
              <a:rPr lang="sk-SK" sz="2400" u="sng"/>
              <a:t>varí</a:t>
            </a:r>
            <a:r>
              <a:rPr lang="sk-SK" sz="2400"/>
              <a:t> sviečkovú.			Čo robí otec? </a:t>
            </a:r>
            <a:r>
              <a:rPr b="1" lang="sk-SK" sz="2400"/>
              <a:t>Varí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sk-SK" sz="2400"/>
              <a:t>		Otec </a:t>
            </a:r>
            <a:r>
              <a:rPr lang="sk-SK" sz="2400" u="sng"/>
              <a:t>by chcel variť </a:t>
            </a:r>
            <a:r>
              <a:rPr lang="sk-SK" sz="2400"/>
              <a:t>sviečkovú.		Čo by chcel robiť otec? 											</a:t>
            </a:r>
            <a:r>
              <a:rPr b="1" lang="sk-SK" sz="2400"/>
              <a:t>Chcel by variť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sk-SK" sz="2400"/>
              <a:t>b) </a:t>
            </a:r>
            <a:r>
              <a:rPr b="1" lang="sk-SK" sz="2400">
                <a:solidFill>
                  <a:srgbClr val="D85322"/>
                </a:solidFill>
              </a:rPr>
              <a:t>Slovesno – menný </a:t>
            </a:r>
            <a:r>
              <a:rPr b="1" lang="sk-SK" sz="2400"/>
              <a:t>– </a:t>
            </a:r>
            <a:r>
              <a:rPr lang="sk-SK" sz="2400"/>
              <a:t>tu sa spája sloveso byť s pods. alebo príd. menom, číslovkou, zámenom.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sk-SK" sz="2400"/>
              <a:t>Otec </a:t>
            </a:r>
            <a:r>
              <a:rPr lang="sk-SK" sz="2400" u="sng"/>
              <a:t>je lekárom</a:t>
            </a:r>
            <a:r>
              <a:rPr lang="sk-SK" sz="2400"/>
              <a:t>.	Otec </a:t>
            </a:r>
            <a:r>
              <a:rPr lang="sk-SK" sz="2400" u="sng"/>
              <a:t>je šikovný.</a:t>
            </a:r>
            <a:r>
              <a:rPr lang="sk-SK" sz="2400"/>
              <a:t>	Otec </a:t>
            </a:r>
            <a:r>
              <a:rPr lang="sk-SK" sz="2400" u="sng"/>
              <a:t>je prvý</a:t>
            </a:r>
            <a:r>
              <a:rPr lang="sk-SK" sz="2400"/>
              <a:t>.		Otec </a:t>
            </a:r>
            <a:r>
              <a:rPr lang="sk-SK" sz="2400" u="sng"/>
              <a:t>je náš</a:t>
            </a:r>
            <a:r>
              <a:rPr lang="sk-SK" sz="2400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sk-SK"/>
              <a:t>Prísudok vo vete býva:</a:t>
            </a:r>
            <a:endParaRPr/>
          </a:p>
        </p:txBody>
      </p:sp>
      <p:sp>
        <p:nvSpPr>
          <p:cNvPr id="138" name="Google Shape;138;p9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6C55"/>
              </a:buClr>
              <a:buSzPts val="2000"/>
              <a:buAutoNum type="alphaLcParenR"/>
            </a:pPr>
            <a:r>
              <a:rPr b="1" lang="sk-SK" sz="2000">
                <a:solidFill>
                  <a:srgbClr val="2D6C55"/>
                </a:solidFill>
              </a:rPr>
              <a:t>HOLÝ</a:t>
            </a:r>
            <a:r>
              <a:rPr lang="sk-SK" sz="2000"/>
              <a:t> – nerozvíja ho žiadne iné slovo.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k-SK" sz="2000"/>
              <a:t>	        Chlapci </a:t>
            </a:r>
            <a:r>
              <a:rPr lang="sk-SK" sz="2000" u="sng"/>
              <a:t>bežali</a:t>
            </a:r>
            <a:r>
              <a:rPr lang="sk-SK" sz="2000"/>
              <a:t>.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2D6C55"/>
              </a:buClr>
              <a:buSzPts val="2000"/>
              <a:buAutoNum type="alphaLcParenR" startAt="2"/>
            </a:pPr>
            <a:r>
              <a:rPr b="1" lang="sk-SK" sz="2000">
                <a:solidFill>
                  <a:srgbClr val="2D6C55"/>
                </a:solidFill>
              </a:rPr>
              <a:t>ROZVITÝ</a:t>
            </a:r>
            <a:r>
              <a:rPr lang="sk-SK" sz="2000"/>
              <a:t> – rozvíja ho najčastejšie príslovkové určenie, predmet, nezhodný prívlastok.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k-SK" sz="2000"/>
              <a:t>	</a:t>
            </a:r>
            <a:r>
              <a:rPr lang="sk-SK" sz="2800"/>
              <a:t>           </a:t>
            </a:r>
            <a:r>
              <a:rPr lang="sk-SK"/>
              <a:t>Chlapci </a:t>
            </a:r>
            <a:r>
              <a:rPr lang="sk-SK" u="sng"/>
              <a:t>bežali</a:t>
            </a:r>
            <a:r>
              <a:rPr lang="sk-SK"/>
              <a:t> </a:t>
            </a:r>
            <a:r>
              <a:rPr lang="sk-SK">
                <a:highlight>
                  <a:srgbClr val="FFFF00"/>
                </a:highlight>
              </a:rPr>
              <a:t>po ihrisku</a:t>
            </a:r>
            <a:r>
              <a:rPr lang="sk-SK">
                <a:solidFill>
                  <a:srgbClr val="000000"/>
                </a:solidFill>
              </a:rPr>
              <a:t>.</a:t>
            </a:r>
            <a:r>
              <a:rPr lang="sk-SK"/>
              <a:t> (príslovkové určenie miesta)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k-SK"/>
              <a:t>                   Chlapci </a:t>
            </a:r>
            <a:r>
              <a:rPr lang="sk-SK" u="sng"/>
              <a:t>bežali</a:t>
            </a:r>
            <a:r>
              <a:rPr lang="sk-SK"/>
              <a:t> </a:t>
            </a:r>
            <a:r>
              <a:rPr lang="sk-SK">
                <a:highlight>
                  <a:srgbClr val="FFFF00"/>
                </a:highlight>
              </a:rPr>
              <a:t>štafetu</a:t>
            </a:r>
            <a:r>
              <a:rPr lang="sk-SK">
                <a:solidFill>
                  <a:srgbClr val="000000"/>
                </a:solidFill>
              </a:rPr>
              <a:t>.</a:t>
            </a:r>
            <a:r>
              <a:rPr lang="sk-SK"/>
              <a:t> (predmet)</a:t>
            </a:r>
            <a:endParaRPr/>
          </a:p>
          <a:p>
            <a:pPr indent="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k-SK"/>
              <a:t>                   Chlapci </a:t>
            </a:r>
            <a:r>
              <a:rPr lang="sk-SK" u="sng"/>
              <a:t>boli bežcami</a:t>
            </a:r>
            <a:r>
              <a:rPr lang="sk-SK"/>
              <a:t> </a:t>
            </a:r>
            <a:r>
              <a:rPr lang="sk-SK">
                <a:solidFill>
                  <a:srgbClr val="000000"/>
                </a:solidFill>
                <a:highlight>
                  <a:srgbClr val="FFFF00"/>
                </a:highlight>
              </a:rPr>
              <a:t>roka</a:t>
            </a:r>
            <a:r>
              <a:rPr lang="sk-SK">
                <a:highlight>
                  <a:srgbClr val="FFFF00"/>
                </a:highlight>
              </a:rPr>
              <a:t>.</a:t>
            </a:r>
            <a:r>
              <a:rPr lang="sk-SK"/>
              <a:t> (nezhodný prívlastok)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k-SK" sz="2000"/>
              <a:t>c) </a:t>
            </a:r>
            <a:r>
              <a:rPr b="1" lang="sk-SK" sz="2000">
                <a:solidFill>
                  <a:srgbClr val="2D6C55"/>
                </a:solidFill>
              </a:rPr>
              <a:t>VIACNÁSOBNÝ</a:t>
            </a:r>
            <a:r>
              <a:rPr lang="sk-SK" sz="2000"/>
              <a:t> – vo vete je viac podmetov, ktoré spolu súvisia. Sú oddelené čiarkou alebo spojené spojkou.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k-SK" sz="2000"/>
              <a:t>	        Chlapci </a:t>
            </a:r>
            <a:r>
              <a:rPr lang="sk-SK" sz="2000" u="sng"/>
              <a:t>bežali, skákali a vystrájali</a:t>
            </a:r>
            <a:r>
              <a:rPr lang="sk-SK" sz="2000"/>
              <a:t>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sk-SK"/>
              <a:t>DVOJČLENNÁ VETA:</a:t>
            </a:r>
            <a:endParaRPr/>
          </a:p>
        </p:txBody>
      </p:sp>
      <p:sp>
        <p:nvSpPr>
          <p:cNvPr id="144" name="Google Shape;144;p10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lphaLcParenR"/>
            </a:pPr>
            <a:r>
              <a:rPr b="1" lang="sk-SK" sz="2800"/>
              <a:t>Úplná</a:t>
            </a:r>
            <a:r>
              <a:rPr lang="sk-SK"/>
              <a:t> – </a:t>
            </a:r>
            <a:r>
              <a:rPr lang="sk-SK" sz="2400"/>
              <a:t>ak sa v nej nachádzajú </a:t>
            </a:r>
            <a:r>
              <a:rPr b="1" lang="sk-SK" sz="2400">
                <a:solidFill>
                  <a:srgbClr val="D85322"/>
                </a:solidFill>
              </a:rPr>
              <a:t>podmet</a:t>
            </a:r>
            <a:r>
              <a:rPr lang="sk-SK" sz="2400"/>
              <a:t> aj </a:t>
            </a:r>
            <a:r>
              <a:rPr b="1" lang="sk-SK" sz="2400">
                <a:solidFill>
                  <a:srgbClr val="2D6C55"/>
                </a:solidFill>
              </a:rPr>
              <a:t>prísudok.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k-SK" sz="2400"/>
              <a:t>	      </a:t>
            </a:r>
            <a:r>
              <a:rPr b="1" lang="sk-SK" sz="2400" u="sng">
                <a:solidFill>
                  <a:srgbClr val="B93A1C"/>
                </a:solidFill>
              </a:rPr>
              <a:t> Mama</a:t>
            </a:r>
            <a:r>
              <a:rPr lang="sk-SK" sz="2400"/>
              <a:t> nás včera </a:t>
            </a:r>
            <a:r>
              <a:rPr b="1" lang="sk-SK" sz="2400" u="sng">
                <a:solidFill>
                  <a:srgbClr val="2D6C55"/>
                </a:solidFill>
              </a:rPr>
              <a:t>navštívila.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u="sng">
              <a:solidFill>
                <a:srgbClr val="2D6C55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sk-SK" sz="2800"/>
              <a:t>b) Neúplná</a:t>
            </a:r>
            <a:r>
              <a:rPr b="1" lang="sk-SK">
                <a:solidFill>
                  <a:srgbClr val="2D6C55"/>
                </a:solidFill>
              </a:rPr>
              <a:t> – </a:t>
            </a:r>
            <a:r>
              <a:rPr lang="sk-SK" sz="2400"/>
              <a:t>nachádza sa v nej prísudok, ale podmet nie. Vieme ho však doplniť.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sk-SK" sz="2400"/>
              <a:t>	        </a:t>
            </a:r>
            <a:r>
              <a:rPr lang="sk-SK" sz="2400"/>
              <a:t>Včera nás </a:t>
            </a:r>
            <a:r>
              <a:rPr b="1" lang="sk-SK" sz="2400" u="sng">
                <a:solidFill>
                  <a:srgbClr val="2D6C55"/>
                </a:solidFill>
              </a:rPr>
              <a:t>navštívila</a:t>
            </a:r>
            <a:r>
              <a:rPr lang="sk-SK" sz="2400"/>
              <a:t>. </a:t>
            </a:r>
            <a:r>
              <a:rPr b="1" lang="sk-SK" sz="2400">
                <a:solidFill>
                  <a:srgbClr val="D85322"/>
                </a:solidFill>
              </a:rPr>
              <a:t>(ona)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/>
          <p:nvPr/>
        </p:nvSpPr>
        <p:spPr>
          <a:xfrm>
            <a:off x="2932043" y="367748"/>
            <a:ext cx="6559827" cy="805069"/>
          </a:xfrm>
          <a:prstGeom prst="roundRect">
            <a:avLst>
              <a:gd fmla="val 16667" name="adj"/>
            </a:avLst>
          </a:prstGeom>
          <a:solidFill>
            <a:srgbClr val="DE9415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DVOJČLENNÁ VETA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1679713" y="1977887"/>
            <a:ext cx="2703444" cy="556591"/>
          </a:xfrm>
          <a:prstGeom prst="roundRect">
            <a:avLst>
              <a:gd fmla="val 16667" name="adj"/>
            </a:avLst>
          </a:prstGeom>
          <a:solidFill>
            <a:srgbClr val="F2C67A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ÚPLNÁ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7765774" y="2030894"/>
            <a:ext cx="2703444" cy="556591"/>
          </a:xfrm>
          <a:prstGeom prst="roundRect">
            <a:avLst>
              <a:gd fmla="val 16667" name="adj"/>
            </a:avLst>
          </a:prstGeom>
          <a:solidFill>
            <a:srgbClr val="F2C67A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NEÚPLNÁ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298174" y="3180522"/>
            <a:ext cx="1967948" cy="715617"/>
          </a:xfrm>
          <a:prstGeom prst="rect">
            <a:avLst/>
          </a:prstGeom>
          <a:solidFill>
            <a:srgbClr val="A8DAC8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PODMET -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vyjadrený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2932043" y="3165614"/>
            <a:ext cx="2286001" cy="949186"/>
          </a:xfrm>
          <a:prstGeom prst="rect">
            <a:avLst/>
          </a:prstGeom>
          <a:solidFill>
            <a:srgbClr val="A8DAC8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PRÍSUDOK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slovesný aj slovesno-menný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298174" y="4532243"/>
            <a:ext cx="5168347" cy="129208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Náš</a:t>
            </a:r>
            <a:r>
              <a:rPr b="1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pes</a:t>
            </a: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sk-SK" sz="2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štekal</a:t>
            </a: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všetkých ľudí</a:t>
            </a:r>
            <a:r>
              <a:rPr b="0" i="0" lang="sk-SK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Štyria </a:t>
            </a: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požičali kajak.</a:t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6781800" y="3148221"/>
            <a:ext cx="1967948" cy="715617"/>
          </a:xfrm>
          <a:prstGeom prst="rect">
            <a:avLst/>
          </a:prstGeom>
          <a:solidFill>
            <a:srgbClr val="A8DAC8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PODMET - ne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vyjadrený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9703904" y="3148221"/>
            <a:ext cx="2286001" cy="949186"/>
          </a:xfrm>
          <a:prstGeom prst="rect">
            <a:avLst/>
          </a:prstGeom>
          <a:solidFill>
            <a:srgbClr val="A8DAC8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PRÍSUDOK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slovesný aj slovesno-menný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6579704" y="4684642"/>
            <a:ext cx="5280992" cy="152731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Navštívili sme  starých rodičov.   </a:t>
            </a:r>
            <a:r>
              <a:rPr b="1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(my)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Včera som vyhral v súťaži.    </a:t>
            </a:r>
            <a:r>
              <a:rPr b="1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(ja)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6C55"/>
              </a:buClr>
              <a:buSzPts val="3600"/>
              <a:buFont typeface="Arial"/>
              <a:buNone/>
            </a:pPr>
            <a:r>
              <a:rPr lang="sk-SK">
                <a:solidFill>
                  <a:srgbClr val="2D6C55"/>
                </a:solidFill>
              </a:rPr>
              <a:t>Vetný základ</a:t>
            </a:r>
            <a:endParaRPr/>
          </a:p>
        </p:txBody>
      </p:sp>
      <p:sp>
        <p:nvSpPr>
          <p:cNvPr id="163" name="Google Shape;163;p12"/>
          <p:cNvSpPr txBox="1"/>
          <p:nvPr>
            <p:ph idx="1" type="body"/>
          </p:nvPr>
        </p:nvSpPr>
        <p:spPr>
          <a:xfrm>
            <a:off x="612647" y="1212112"/>
            <a:ext cx="10653579" cy="5097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sk-SK" sz="2800"/>
              <a:t>Jadro vety – významovo najdôležitejšie slovo vety. Nie je to však podmet ani prísudok.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sk-SK" sz="2800"/>
              <a:t>Môže byť:</a:t>
            </a:r>
            <a:endParaRPr/>
          </a:p>
          <a:p>
            <a:pPr indent="-228600" lvl="0" marL="2286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6C55"/>
              </a:buClr>
              <a:buSzPct val="100000"/>
              <a:buChar char="•"/>
            </a:pPr>
            <a:r>
              <a:rPr b="1" lang="sk-SK" sz="2800" u="sng">
                <a:solidFill>
                  <a:srgbClr val="2D6C55"/>
                </a:solidFill>
              </a:rPr>
              <a:t>Slovesný vetný základ:</a:t>
            </a:r>
            <a:endParaRPr sz="2800">
              <a:solidFill>
                <a:srgbClr val="2D6C55"/>
              </a:solidFill>
            </a:endParaRPr>
          </a:p>
          <a:p>
            <a:pPr indent="-228600" lvl="0" marL="2286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sk-SK" sz="2800"/>
              <a:t>vetný základ tvorí iba sloveso </a:t>
            </a:r>
            <a:endParaRPr/>
          </a:p>
          <a:p>
            <a:pPr indent="-228600" lvl="0" marL="228600" rtl="0" algn="just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sk-SK" sz="2800"/>
              <a:t>Napr.: prírodné javy (prší, sneží, ...), fyzické a duševné stavy (chradne, pichá ho v boku)</a:t>
            </a:r>
            <a:endParaRPr/>
          </a:p>
          <a:p>
            <a:pPr indent="-228600" lvl="0" marL="228600" rtl="0" algn="just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sk-SK" sz="2800"/>
              <a:t>Napr.     Včera </a:t>
            </a:r>
            <a:r>
              <a:rPr lang="sk-SK" sz="2800">
                <a:solidFill>
                  <a:srgbClr val="000000"/>
                </a:solidFill>
                <a:highlight>
                  <a:srgbClr val="FFFF00"/>
                </a:highlight>
              </a:rPr>
              <a:t>mrzlo</a:t>
            </a:r>
            <a:r>
              <a:rPr lang="sk-SK" sz="2800">
                <a:highlight>
                  <a:srgbClr val="FFFF00"/>
                </a:highlight>
              </a:rPr>
              <a:t>. </a:t>
            </a:r>
            <a:r>
              <a:rPr lang="sk-SK" sz="2800"/>
              <a:t>           </a:t>
            </a:r>
            <a:r>
              <a:rPr lang="sk-SK" sz="2800">
                <a:solidFill>
                  <a:srgbClr val="000000"/>
                </a:solidFill>
                <a:highlight>
                  <a:srgbClr val="FFFF00"/>
                </a:highlight>
              </a:rPr>
              <a:t>Začalo snežiť</a:t>
            </a:r>
            <a:r>
              <a:rPr lang="sk-SK" sz="2800"/>
              <a:t>.            Pod kameňom </a:t>
            </a:r>
            <a:r>
              <a:rPr lang="sk-SK" sz="2800">
                <a:solidFill>
                  <a:srgbClr val="000000"/>
                </a:solidFill>
                <a:highlight>
                  <a:srgbClr val="FFFF00"/>
                </a:highlight>
              </a:rPr>
              <a:t>zasyčalo</a:t>
            </a:r>
            <a:r>
              <a:rPr lang="sk-SK" sz="2800"/>
              <a:t>. 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sk-SK" sz="2800"/>
              <a:t>                 Z hrnca </a:t>
            </a:r>
            <a:r>
              <a:rPr lang="sk-SK" sz="2800">
                <a:solidFill>
                  <a:srgbClr val="000000"/>
                </a:solidFill>
                <a:highlight>
                  <a:srgbClr val="FFFF00"/>
                </a:highlight>
              </a:rPr>
              <a:t>sa parilo</a:t>
            </a:r>
            <a:r>
              <a:rPr lang="sk-SK" sz="2800"/>
              <a:t>.     </a:t>
            </a:r>
            <a:r>
              <a:rPr lang="sk-SK" sz="2800">
                <a:solidFill>
                  <a:srgbClr val="000000"/>
                </a:solidFill>
                <a:highlight>
                  <a:srgbClr val="FFFF00"/>
                </a:highlight>
              </a:rPr>
              <a:t>Zvečerieva sa</a:t>
            </a:r>
            <a:r>
              <a:rPr lang="sk-SK" sz="2800"/>
              <a:t>.           </a:t>
            </a:r>
            <a:r>
              <a:rPr lang="sk-SK" sz="2800">
                <a:solidFill>
                  <a:srgbClr val="000000"/>
                </a:solidFill>
                <a:highlight>
                  <a:srgbClr val="FFFF00"/>
                </a:highlight>
              </a:rPr>
              <a:t>Sfúklo</a:t>
            </a:r>
            <a:r>
              <a:rPr lang="sk-SK" sz="2800"/>
              <a:t> sviečku. </a:t>
            </a:r>
            <a:endParaRPr/>
          </a:p>
          <a:p>
            <a:pPr indent="-120650" lvl="0" marL="22860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sk-SK"/>
              <a:t>Vetný základ</a:t>
            </a:r>
            <a:endParaRPr/>
          </a:p>
        </p:txBody>
      </p:sp>
      <p:sp>
        <p:nvSpPr>
          <p:cNvPr id="169" name="Google Shape;169;p13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6C55"/>
              </a:buClr>
              <a:buSzPts val="2400"/>
              <a:buNone/>
            </a:pPr>
            <a:r>
              <a:rPr b="1" lang="sk-SK" sz="2400" u="sng">
                <a:solidFill>
                  <a:srgbClr val="2D6C55"/>
                </a:solidFill>
              </a:rPr>
              <a:t>Neslovesný vetný základ - </a:t>
            </a:r>
            <a:r>
              <a:rPr lang="sk-SK" sz="2400">
                <a:solidFill>
                  <a:srgbClr val="2D6C55"/>
                </a:solidFill>
              </a:rPr>
              <a:t> </a:t>
            </a:r>
            <a:r>
              <a:rPr lang="sk-SK" sz="2400"/>
              <a:t>z iných slovných druhov.</a:t>
            </a:r>
            <a:br>
              <a:rPr b="1" lang="sk-SK" sz="2400" u="sng"/>
            </a:br>
            <a:r>
              <a:rPr lang="sk-SK" sz="2400"/>
              <a:t> Napr.: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D85322"/>
              </a:buClr>
              <a:buSzPts val="2400"/>
              <a:buFont typeface="Arial"/>
              <a:buAutoNum type="alphaLcParenR"/>
            </a:pPr>
            <a:r>
              <a:rPr b="1" lang="sk-SK" sz="2400">
                <a:solidFill>
                  <a:srgbClr val="D85322"/>
                </a:solidFill>
              </a:rPr>
              <a:t>podstatné meno: </a:t>
            </a:r>
            <a:r>
              <a:rPr lang="sk-SK" sz="2400"/>
              <a:t>Potraviny. Zákaz. Drogéria. Mami!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D85322"/>
              </a:buClr>
              <a:buSzPts val="2400"/>
              <a:buFont typeface="Arial"/>
              <a:buAutoNum type="alphaLcParenR"/>
            </a:pPr>
            <a:r>
              <a:rPr b="1" lang="sk-SK" sz="2400">
                <a:solidFill>
                  <a:srgbClr val="D85322"/>
                </a:solidFill>
              </a:rPr>
              <a:t>Príslovka:</a:t>
            </a:r>
            <a:r>
              <a:rPr lang="sk-SK" sz="2400">
                <a:solidFill>
                  <a:srgbClr val="D85322"/>
                </a:solidFill>
              </a:rPr>
              <a:t> </a:t>
            </a:r>
            <a:r>
              <a:rPr lang="sk-SK" sz="2400"/>
              <a:t>Výborne! Veľmi! 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D85322"/>
              </a:buClr>
              <a:buSzPts val="2400"/>
              <a:buFont typeface="Arial"/>
              <a:buAutoNum type="alphaLcParenR"/>
            </a:pPr>
            <a:r>
              <a:rPr b="1" lang="sk-SK" sz="2400">
                <a:solidFill>
                  <a:srgbClr val="D85322"/>
                </a:solidFill>
              </a:rPr>
              <a:t>Citoslovce: </a:t>
            </a:r>
            <a:r>
              <a:rPr lang="sk-SK" sz="2400">
                <a:solidFill>
                  <a:srgbClr val="D85322"/>
                </a:solidFill>
              </a:rPr>
              <a:t> </a:t>
            </a:r>
            <a:r>
              <a:rPr lang="sk-SK" sz="2400"/>
              <a:t>Ach! Čľup! Dovidenia!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D85322"/>
              </a:buClr>
              <a:buSzPts val="2400"/>
              <a:buFont typeface="Arial"/>
              <a:buAutoNum type="alphaLcParenR"/>
            </a:pPr>
            <a:r>
              <a:rPr b="1" lang="sk-SK" sz="2400">
                <a:solidFill>
                  <a:srgbClr val="D85322"/>
                </a:solidFill>
              </a:rPr>
              <a:t>prídavné meno : </a:t>
            </a:r>
            <a:r>
              <a:rPr lang="sk-SK" sz="2400"/>
              <a:t>Nádherné! 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D85322"/>
              </a:buClr>
              <a:buSzPts val="2400"/>
              <a:buFont typeface="Arial"/>
              <a:buAutoNum type="alphaLcParenR"/>
            </a:pPr>
            <a:r>
              <a:rPr b="1" lang="sk-SK" sz="2400">
                <a:solidFill>
                  <a:srgbClr val="D85322"/>
                </a:solidFill>
              </a:rPr>
              <a:t>Častica: </a:t>
            </a:r>
            <a:r>
              <a:rPr lang="sk-SK" sz="2400"/>
              <a:t>Kiež by! Samozrejme!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sk-SK"/>
              <a:t>Jednočlenná veta</a:t>
            </a:r>
            <a:endParaRPr/>
          </a:p>
        </p:txBody>
      </p:sp>
      <p:sp>
        <p:nvSpPr>
          <p:cNvPr id="175" name="Google Shape;175;p14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sk-SK" sz="2400">
                <a:solidFill>
                  <a:srgbClr val="000000"/>
                </a:solidFill>
              </a:rPr>
              <a:t>JEDNOČLENNÁ – 1 vetný člen – vetný základ</a:t>
            </a:r>
            <a:endParaRPr sz="2400"/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</a:pPr>
            <a:r>
              <a:rPr b="1" lang="sk-SK" sz="2400">
                <a:solidFill>
                  <a:srgbClr val="000000"/>
                </a:solidFill>
              </a:rPr>
              <a:t>slovesná – </a:t>
            </a:r>
            <a:r>
              <a:rPr lang="sk-SK" sz="2400">
                <a:solidFill>
                  <a:srgbClr val="000000"/>
                </a:solidFill>
              </a:rPr>
              <a:t>vyjadruje ju sloveso (prší, sneží, blýska sa, chradne, pichá ho v boku, ...)</a:t>
            </a:r>
            <a:endParaRPr sz="2400"/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</a:pPr>
            <a:r>
              <a:rPr b="1" lang="sk-SK" sz="2400">
                <a:solidFill>
                  <a:srgbClr val="000000"/>
                </a:solidFill>
              </a:rPr>
              <a:t>neslovesná – </a:t>
            </a:r>
            <a:r>
              <a:rPr lang="sk-SK" sz="2400">
                <a:solidFill>
                  <a:srgbClr val="000000"/>
                </a:solidFill>
              </a:rPr>
              <a:t>vyjadruje ju iný slovný druh (Potraviny., Hej!, Vstup len s rúškom!, Bratislava – 50 km, ...)</a:t>
            </a:r>
            <a:endParaRPr sz="2400"/>
          </a:p>
          <a:p>
            <a:pPr indent="-101600" lvl="0" marL="22860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sk-SK"/>
              <a:t>ZHRNUTIE</a:t>
            </a:r>
            <a:endParaRPr/>
          </a:p>
        </p:txBody>
      </p:sp>
      <p:sp>
        <p:nvSpPr>
          <p:cNvPr id="181" name="Google Shape;181;p15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sk-SK" sz="2400"/>
              <a:t>PODMET </a:t>
            </a:r>
            <a:r>
              <a:rPr lang="sk-SK" sz="2400">
                <a:highlight>
                  <a:srgbClr val="FFFF00"/>
                </a:highlight>
              </a:rPr>
              <a:t>–</a:t>
            </a:r>
            <a:r>
              <a:rPr b="1" lang="sk-SK" sz="2400">
                <a:highlight>
                  <a:srgbClr val="FFFF00"/>
                </a:highlight>
              </a:rPr>
              <a:t> vyjadrený </a:t>
            </a:r>
            <a:r>
              <a:rPr lang="sk-SK" sz="2400"/>
              <a:t>– priamo vo vete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k-SK" sz="2400"/>
              <a:t>                 -</a:t>
            </a:r>
            <a:r>
              <a:rPr b="1" lang="sk-SK" sz="2400">
                <a:highlight>
                  <a:srgbClr val="FFFF00"/>
                </a:highlight>
              </a:rPr>
              <a:t> nevyjadrený</a:t>
            </a:r>
            <a:r>
              <a:rPr lang="sk-SK" sz="2400"/>
              <a:t> – dá sa zistiť (zámeno)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sk-SK" sz="2400"/>
              <a:t>PRÍSUDOK – </a:t>
            </a:r>
            <a:r>
              <a:rPr b="1" lang="sk-SK" sz="2400">
                <a:highlight>
                  <a:srgbClr val="00FFFF"/>
                </a:highlight>
              </a:rPr>
              <a:t>slovesný </a:t>
            </a:r>
            <a:r>
              <a:rPr lang="sk-SK" sz="2400"/>
              <a:t>– vyjadrený iba slovesom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k-SK" sz="2400"/>
              <a:t>	       - </a:t>
            </a:r>
            <a:r>
              <a:rPr b="1" lang="sk-SK" sz="2400">
                <a:highlight>
                  <a:srgbClr val="00FFFF"/>
                </a:highlight>
              </a:rPr>
              <a:t>slovesno-menný</a:t>
            </a:r>
            <a:r>
              <a:rPr lang="sk-SK" sz="2400"/>
              <a:t> – sloveso + pod.m., príd.m., zámeno, číslovka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sk-SK" sz="2400"/>
              <a:t>VETNÝ ZÁKLAD – jadro vety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k-SK" sz="2400"/>
              <a:t>	       - </a:t>
            </a:r>
            <a:r>
              <a:rPr b="1" lang="sk-SK" sz="2400">
                <a:highlight>
                  <a:srgbClr val="FF00FF"/>
                </a:highlight>
              </a:rPr>
              <a:t>slovesný</a:t>
            </a:r>
            <a:r>
              <a:rPr lang="sk-SK" sz="2400"/>
              <a:t> – vyjadrený slovesom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k-SK" sz="2400"/>
              <a:t>	       - </a:t>
            </a:r>
            <a:r>
              <a:rPr b="1" lang="sk-SK" sz="2400">
                <a:highlight>
                  <a:srgbClr val="FF00FF"/>
                </a:highlight>
              </a:rPr>
              <a:t>neslovesný</a:t>
            </a:r>
            <a:r>
              <a:rPr lang="sk-SK" sz="2400"/>
              <a:t> – vyjadrený iným slovným druhom.</a:t>
            </a:r>
            <a:endParaRPr/>
          </a:p>
        </p:txBody>
      </p:sp>
      <p:sp>
        <p:nvSpPr>
          <p:cNvPr id="182" name="Google Shape;182;p15"/>
          <p:cNvSpPr/>
          <p:nvPr/>
        </p:nvSpPr>
        <p:spPr>
          <a:xfrm>
            <a:off x="7435780" y="1296237"/>
            <a:ext cx="4049486" cy="1336431"/>
          </a:xfrm>
          <a:prstGeom prst="rect">
            <a:avLst/>
          </a:prstGeom>
          <a:solidFill>
            <a:srgbClr val="F2C67A"/>
          </a:solidFill>
          <a:ln cap="flat" cmpd="sng" w="127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Dvojčlenná veta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Úplná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podmet a prísudok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 </a:t>
            </a: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neúplná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nevyjadrený podmet, prísudok má</a:t>
            </a: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7748954" y="4352611"/>
            <a:ext cx="4309068" cy="1336431"/>
          </a:xfrm>
          <a:prstGeom prst="rect">
            <a:avLst/>
          </a:prstGeom>
          <a:solidFill>
            <a:srgbClr val="F2C67A"/>
          </a:solidFill>
          <a:ln cap="flat" cmpd="sng" w="127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Jednočlenná veta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slovesná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vyjadrená slovesom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 </a:t>
            </a: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neslovesná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vyjadrená iným slovným druhom.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/>
          <p:nvPr>
            <p:ph type="title"/>
          </p:nvPr>
        </p:nvSpPr>
        <p:spPr>
          <a:xfrm>
            <a:off x="781613" y="2476832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93A1C"/>
              </a:buClr>
              <a:buSzPts val="6000"/>
              <a:buFont typeface="Arial"/>
              <a:buNone/>
            </a:pPr>
            <a:r>
              <a:rPr lang="sk-SK" sz="6000">
                <a:solidFill>
                  <a:srgbClr val="B93A1C"/>
                </a:solidFill>
              </a:rPr>
              <a:t>VEDĽAJŠIE VETNÉ ČLENY</a:t>
            </a:r>
            <a:endParaRPr sz="6000">
              <a:solidFill>
                <a:srgbClr val="B93A1C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sk-SK"/>
              <a:t>VEDĽAJŠIE VETNÉ ČLENY</a:t>
            </a:r>
            <a:endParaRPr/>
          </a:p>
        </p:txBody>
      </p:sp>
      <p:sp>
        <p:nvSpPr>
          <p:cNvPr id="194" name="Google Shape;194;p17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sk-SK" sz="2400"/>
              <a:t>Rozvíjajú podmet a prísudok.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sk-SK" sz="2400"/>
              <a:t>Patria sem: </a:t>
            </a:r>
            <a:r>
              <a:rPr b="1" lang="sk-SK" sz="2400">
                <a:solidFill>
                  <a:srgbClr val="FF0000"/>
                </a:solidFill>
              </a:rPr>
              <a:t>predmet</a:t>
            </a:r>
            <a:r>
              <a:rPr lang="sk-SK" sz="2400"/>
              <a:t> – spája sa s prísudkom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k-SK" sz="2400"/>
              <a:t>                       </a:t>
            </a:r>
            <a:r>
              <a:rPr b="1" lang="sk-SK" sz="2400">
                <a:solidFill>
                  <a:srgbClr val="FF0000"/>
                </a:solidFill>
              </a:rPr>
              <a:t>príslovkové určenie </a:t>
            </a:r>
            <a:r>
              <a:rPr lang="sk-SK" sz="2400"/>
              <a:t>– spája sa s prísudkom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k-SK" sz="2400"/>
              <a:t>	           </a:t>
            </a:r>
            <a:r>
              <a:rPr b="1" lang="sk-SK" sz="2400">
                <a:solidFill>
                  <a:srgbClr val="FF0000"/>
                </a:solidFill>
              </a:rPr>
              <a:t>prívlastok</a:t>
            </a:r>
            <a:r>
              <a:rPr lang="sk-SK" sz="2400"/>
              <a:t> – spája sa s podmetom, predmetom, prísl. určením				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k-SK" sz="2400"/>
              <a:t>OSOBITNÁ KATEGÓRIA – </a:t>
            </a:r>
            <a:r>
              <a:rPr b="1" lang="sk-SK" sz="2400"/>
              <a:t>prístavok</a:t>
            </a:r>
            <a:r>
              <a:rPr lang="sk-SK" sz="2400"/>
              <a:t> – nepatrí medzi vetné členy, ale 					  preberá sa ako súčasť vety	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sk-SK">
                <a:solidFill>
                  <a:srgbClr val="0070C0"/>
                </a:solidFill>
              </a:rPr>
              <a:t>PREDMET</a:t>
            </a:r>
            <a:endParaRPr/>
          </a:p>
        </p:txBody>
      </p:sp>
      <p:sp>
        <p:nvSpPr>
          <p:cNvPr id="200" name="Google Shape;200;p18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sk-SK" sz="2800"/>
              <a:t>vedľajší vetný člen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sk-SK" sz="2800"/>
              <a:t>rozvíja sloveso (prísudok)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sk-SK" sz="2800"/>
              <a:t>otázka: (od) koho, čoho? </a:t>
            </a:r>
            <a:endParaRPr sz="28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sk-SK" sz="2800"/>
              <a:t>	     Komu, čomu? </a:t>
            </a:r>
            <a:endParaRPr sz="28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sk-SK" sz="2800"/>
              <a:t>	     Koho, čo? </a:t>
            </a:r>
            <a:endParaRPr sz="28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sk-SK" sz="2800"/>
              <a:t>	    (O) kom, čom? </a:t>
            </a:r>
            <a:endParaRPr sz="28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sk-SK" sz="2800"/>
              <a:t>	     (S) kým, čím?</a:t>
            </a:r>
            <a:endParaRPr sz="2800"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5933661" y="1868557"/>
            <a:ext cx="5307496" cy="3061252"/>
          </a:xfrm>
          <a:prstGeom prst="rect">
            <a:avLst/>
          </a:prstGeom>
          <a:solidFill>
            <a:srgbClr val="F2C67A"/>
          </a:solidFill>
          <a:ln cap="flat" cmpd="sng" w="127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Môžeme sa na predmet pýtať všetkými pádovými otázkami, okrem </a:t>
            </a:r>
            <a:r>
              <a:rPr b="1" i="0" lang="sk-SK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NOMINATÍVU.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sk-SK"/>
              <a:t>PREDMETOM vo vete môže byť:</a:t>
            </a:r>
            <a:endParaRPr/>
          </a:p>
        </p:txBody>
      </p:sp>
      <p:sp>
        <p:nvSpPr>
          <p:cNvPr id="207" name="Google Shape;207;p19"/>
          <p:cNvSpPr txBox="1"/>
          <p:nvPr>
            <p:ph idx="1" type="body"/>
          </p:nvPr>
        </p:nvSpPr>
        <p:spPr>
          <a:xfrm>
            <a:off x="612647" y="1275907"/>
            <a:ext cx="10653579" cy="5033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k-SK"/>
              <a:t> </a:t>
            </a:r>
            <a:r>
              <a:rPr lang="sk-SK" sz="2200"/>
              <a:t>Vo vete môže mať úlohu predmetu: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AutoNum type="alphaLcParenR"/>
            </a:pPr>
            <a:r>
              <a:rPr b="1" i="1" lang="sk-SK" sz="2200">
                <a:solidFill>
                  <a:srgbClr val="0070C0"/>
                </a:solidFill>
              </a:rPr>
              <a:t>podstatné meno</a:t>
            </a:r>
            <a:r>
              <a:rPr b="1" lang="sk-SK" sz="2200">
                <a:solidFill>
                  <a:srgbClr val="0070C0"/>
                </a:solidFill>
              </a:rPr>
              <a:t>:</a:t>
            </a:r>
            <a:r>
              <a:rPr lang="sk-SK" sz="2200"/>
              <a:t>   Stretli sme sa </a:t>
            </a:r>
            <a:r>
              <a:rPr lang="sk-SK" sz="2200" u="sng"/>
              <a:t>s rodičmi.</a:t>
            </a:r>
            <a:r>
              <a:rPr lang="sk-SK" sz="2200"/>
              <a:t>	    </a:t>
            </a:r>
            <a:r>
              <a:rPr lang="sk-SK" sz="2200" u="sng"/>
              <a:t>S KÝM</a:t>
            </a:r>
            <a:r>
              <a:rPr lang="sk-SK" sz="2200"/>
              <a:t> sme sa stretli?</a:t>
            </a:r>
            <a:endParaRPr/>
          </a:p>
          <a:p>
            <a:pPr indent="-3175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AutoNum type="alphaLcParenR"/>
            </a:pPr>
            <a:r>
              <a:rPr b="1" i="1" lang="sk-SK" sz="2200">
                <a:solidFill>
                  <a:srgbClr val="0070C0"/>
                </a:solidFill>
              </a:rPr>
              <a:t>zámeno:</a:t>
            </a:r>
            <a:r>
              <a:rPr lang="sk-SK" sz="2200"/>
              <a:t>	      Martin </a:t>
            </a:r>
            <a:r>
              <a:rPr lang="sk-SK" sz="2200" u="sng"/>
              <a:t>o nich</a:t>
            </a:r>
            <a:r>
              <a:rPr lang="sk-SK" sz="2200"/>
              <a:t> hovoril pekne.	    </a:t>
            </a:r>
            <a:r>
              <a:rPr lang="sk-SK" sz="2200" u="sng"/>
              <a:t>O KOM</a:t>
            </a:r>
            <a:r>
              <a:rPr lang="sk-SK" sz="2200"/>
              <a:t> hovoril Martin?</a:t>
            </a:r>
            <a:endParaRPr/>
          </a:p>
          <a:p>
            <a:pPr indent="-3175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AutoNum type="alphaLcParenR"/>
            </a:pPr>
            <a:r>
              <a:rPr b="1" i="1" lang="sk-SK" sz="2200">
                <a:solidFill>
                  <a:srgbClr val="0070C0"/>
                </a:solidFill>
              </a:rPr>
              <a:t>príd. meno:</a:t>
            </a:r>
            <a:r>
              <a:rPr b="1" lang="sk-SK" sz="2200">
                <a:solidFill>
                  <a:srgbClr val="0070C0"/>
                </a:solidFill>
              </a:rPr>
              <a:t>      </a:t>
            </a:r>
            <a:r>
              <a:rPr lang="sk-SK" sz="2200" u="sng"/>
              <a:t>S príbuznými</a:t>
            </a:r>
            <a:r>
              <a:rPr lang="sk-SK" sz="2200"/>
              <a:t> sa mama nevidela dlho. 	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sk-SK" sz="2200"/>
              <a:t>		       </a:t>
            </a:r>
            <a:r>
              <a:rPr lang="sk-SK" sz="2200" u="sng"/>
              <a:t>S KÝM</a:t>
            </a:r>
            <a:r>
              <a:rPr lang="sk-SK" sz="2200"/>
              <a:t> sa mama nevidela dlho?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None/>
            </a:pPr>
            <a:r>
              <a:rPr b="1" i="1" lang="sk-SK" sz="2200">
                <a:solidFill>
                  <a:srgbClr val="0070C0"/>
                </a:solidFill>
              </a:rPr>
              <a:t>d)   číslovka:</a:t>
            </a:r>
            <a:r>
              <a:rPr b="1" lang="sk-SK" sz="2200">
                <a:solidFill>
                  <a:srgbClr val="0070C0"/>
                </a:solidFill>
              </a:rPr>
              <a:t>	</a:t>
            </a:r>
            <a:r>
              <a:rPr lang="sk-SK" sz="2200"/>
              <a:t>       </a:t>
            </a:r>
            <a:r>
              <a:rPr lang="sk-SK" sz="2200" u="sng"/>
              <a:t>Prvého</a:t>
            </a:r>
            <a:r>
              <a:rPr lang="sk-SK" sz="2200"/>
              <a:t> povzbudzovali všetci ľudia.	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sk-SK" sz="2200"/>
              <a:t>		       </a:t>
            </a:r>
            <a:r>
              <a:rPr lang="sk-SK" sz="2200" u="sng"/>
              <a:t>Koho</a:t>
            </a:r>
            <a:r>
              <a:rPr lang="sk-SK" sz="2200"/>
              <a:t> povzbudzovali všetci ľudia?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sk-SK"/>
              <a:t>DRUH PREDMETU:</a:t>
            </a:r>
            <a:endParaRPr/>
          </a:p>
        </p:txBody>
      </p:sp>
      <p:sp>
        <p:nvSpPr>
          <p:cNvPr id="213" name="Google Shape;213;p20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sk-SK"/>
              <a:t>1. </a:t>
            </a:r>
            <a:r>
              <a:rPr b="1" lang="sk-SK">
                <a:solidFill>
                  <a:srgbClr val="0070C0"/>
                </a:solidFill>
              </a:rPr>
              <a:t>PRIAMY</a:t>
            </a:r>
            <a:r>
              <a:rPr b="1" lang="sk-SK"/>
              <a:t> </a:t>
            </a:r>
            <a:r>
              <a:rPr lang="sk-SK"/>
              <a:t>– nachádza sa </a:t>
            </a:r>
            <a:r>
              <a:rPr lang="sk-SK">
                <a:highlight>
                  <a:srgbClr val="FFFF00"/>
                </a:highlight>
              </a:rPr>
              <a:t>v akuzatíve a bez predložky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k-SK"/>
              <a:t>Napr. Mama varí </a:t>
            </a:r>
            <a:r>
              <a:rPr lang="sk-SK" u="sng"/>
              <a:t>obed.</a:t>
            </a:r>
            <a:r>
              <a:rPr lang="sk-SK"/>
              <a:t>			(</a:t>
            </a:r>
            <a:r>
              <a:rPr lang="sk-SK" u="sng"/>
              <a:t>Koho, čo</a:t>
            </a:r>
            <a:r>
              <a:rPr lang="sk-SK"/>
              <a:t> varí mama?)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sk-SK"/>
              <a:t>2. </a:t>
            </a:r>
            <a:r>
              <a:rPr b="1" lang="sk-SK">
                <a:solidFill>
                  <a:srgbClr val="0070C0"/>
                </a:solidFill>
              </a:rPr>
              <a:t>NEPRIAMY</a:t>
            </a:r>
            <a:r>
              <a:rPr lang="sk-SK">
                <a:solidFill>
                  <a:srgbClr val="0070C0"/>
                </a:solidFill>
              </a:rPr>
              <a:t> </a:t>
            </a:r>
            <a:r>
              <a:rPr lang="sk-SK"/>
              <a:t>– nachádza sa </a:t>
            </a:r>
            <a:r>
              <a:rPr lang="sk-SK">
                <a:highlight>
                  <a:srgbClr val="FFFF00"/>
                </a:highlight>
              </a:rPr>
              <a:t>v ostatných pádoch</a:t>
            </a:r>
            <a:r>
              <a:rPr lang="sk-SK"/>
              <a:t> a v </a:t>
            </a:r>
            <a:r>
              <a:rPr lang="sk-SK">
                <a:highlight>
                  <a:srgbClr val="FFFF00"/>
                </a:highlight>
              </a:rPr>
              <a:t>akuzatíve s predložkou</a:t>
            </a:r>
            <a:r>
              <a:rPr lang="sk-SK"/>
              <a:t>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k-SK"/>
              <a:t>Prihovoril sa </a:t>
            </a:r>
            <a:r>
              <a:rPr lang="sk-SK" u="sng"/>
              <a:t>novinárom.</a:t>
            </a:r>
            <a:r>
              <a:rPr lang="sk-SK"/>
              <a:t>	        </a:t>
            </a:r>
            <a:r>
              <a:rPr lang="sk-SK" u="sng"/>
              <a:t>KOMU, ČOMU</a:t>
            </a:r>
            <a:r>
              <a:rPr lang="sk-SK"/>
              <a:t> sa prihovoril? – </a:t>
            </a:r>
            <a:r>
              <a:rPr i="1" lang="sk-SK" u="sng">
                <a:solidFill>
                  <a:srgbClr val="0070C0"/>
                </a:solidFill>
              </a:rPr>
              <a:t>datív</a:t>
            </a:r>
            <a:endParaRPr>
              <a:solidFill>
                <a:srgbClr val="0070C0"/>
              </a:solidFill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k-SK"/>
              <a:t>Poskladali sme sa </a:t>
            </a:r>
            <a:r>
              <a:rPr b="1" lang="sk-SK" u="sng"/>
              <a:t>na</a:t>
            </a:r>
            <a:r>
              <a:rPr lang="sk-SK" u="sng"/>
              <a:t> vstupné.</a:t>
            </a:r>
            <a:r>
              <a:rPr lang="sk-SK"/>
              <a:t>      </a:t>
            </a:r>
            <a:r>
              <a:rPr b="1" lang="sk-SK" u="sng"/>
              <a:t>Na</a:t>
            </a:r>
            <a:r>
              <a:rPr lang="sk-SK" u="sng"/>
              <a:t> KOHO, </a:t>
            </a:r>
            <a:r>
              <a:rPr b="1" lang="sk-SK" u="sng"/>
              <a:t>na</a:t>
            </a:r>
            <a:r>
              <a:rPr lang="sk-SK" u="sng"/>
              <a:t> ČO</a:t>
            </a:r>
            <a:r>
              <a:rPr lang="sk-SK"/>
              <a:t> sme sa poskladali? – </a:t>
            </a:r>
            <a:r>
              <a:rPr i="1" lang="sk-SK" u="sng">
                <a:solidFill>
                  <a:srgbClr val="0070C0"/>
                </a:solidFill>
              </a:rPr>
              <a:t>akuzatív</a:t>
            </a:r>
            <a:r>
              <a:rPr i="1" lang="sk-SK">
                <a:solidFill>
                  <a:srgbClr val="0070C0"/>
                </a:solidFill>
              </a:rPr>
              <a:t> 										      </a:t>
            </a:r>
            <a:r>
              <a:rPr i="1" lang="sk-SK" u="sng">
                <a:solidFill>
                  <a:srgbClr val="0070C0"/>
                </a:solidFill>
              </a:rPr>
              <a:t>s predložkou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k-SK"/>
              <a:t>Videli sme </a:t>
            </a:r>
            <a:r>
              <a:rPr lang="sk-SK" u="sng"/>
              <a:t>ich</a:t>
            </a:r>
            <a:r>
              <a:rPr lang="sk-SK"/>
              <a:t> včera.		        </a:t>
            </a:r>
            <a:r>
              <a:rPr lang="sk-SK" u="sng"/>
              <a:t>KOHO, ČOHO</a:t>
            </a:r>
            <a:r>
              <a:rPr lang="sk-SK"/>
              <a:t> sme videli včera? – </a:t>
            </a:r>
            <a:r>
              <a:rPr i="1" lang="sk-SK" u="sng">
                <a:solidFill>
                  <a:srgbClr val="0070C0"/>
                </a:solidFill>
              </a:rPr>
              <a:t>genitív</a:t>
            </a:r>
            <a:endParaRPr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sk-SK"/>
              <a:t>Predmet môže byť vo vete:</a:t>
            </a:r>
            <a:endParaRPr/>
          </a:p>
        </p:txBody>
      </p:sp>
      <p:sp>
        <p:nvSpPr>
          <p:cNvPr id="219" name="Google Shape;219;p21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93A1C"/>
              </a:buClr>
              <a:buSzPct val="100000"/>
              <a:buAutoNum type="arabicPeriod"/>
            </a:pPr>
            <a:r>
              <a:rPr b="1" lang="sk-SK" sz="2400">
                <a:solidFill>
                  <a:srgbClr val="B93A1C"/>
                </a:solidFill>
              </a:rPr>
              <a:t>HOLÝ</a:t>
            </a:r>
            <a:r>
              <a:rPr b="1" lang="sk-SK" sz="2400"/>
              <a:t> – </a:t>
            </a:r>
            <a:r>
              <a:rPr lang="sk-SK" sz="2400"/>
              <a:t>nerozvíja ho žiadne iné slovo.  Napr.:  Mama stretla </a:t>
            </a:r>
            <a:r>
              <a:rPr lang="sk-SK" sz="2400" u="sng"/>
              <a:t>susedov</a:t>
            </a:r>
            <a:r>
              <a:rPr lang="sk-SK" sz="2400"/>
              <a:t>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sk-SK" sz="2400"/>
              <a:t>2. </a:t>
            </a:r>
            <a:r>
              <a:rPr b="1" lang="sk-SK" sz="2400">
                <a:solidFill>
                  <a:srgbClr val="B93A1C"/>
                </a:solidFill>
              </a:rPr>
              <a:t>ROZVITÝ</a:t>
            </a:r>
            <a:r>
              <a:rPr b="1" lang="sk-SK" sz="2400"/>
              <a:t> – </a:t>
            </a:r>
            <a:r>
              <a:rPr lang="sk-SK" sz="2400"/>
              <a:t>najčastejšie ho rozvíja prídavné meno, zámeno, číslovka.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sk-SK" sz="2400"/>
              <a:t>		Napr</a:t>
            </a:r>
            <a:r>
              <a:rPr i="1" lang="sk-SK" sz="2400"/>
              <a:t>.: </a:t>
            </a:r>
            <a:r>
              <a:rPr lang="sk-SK" sz="2400"/>
              <a:t>Mama stretla </a:t>
            </a:r>
            <a:r>
              <a:rPr lang="sk-SK" sz="2400">
                <a:highlight>
                  <a:srgbClr val="FFFF00"/>
                </a:highlight>
              </a:rPr>
              <a:t>dobrých</a:t>
            </a:r>
            <a:r>
              <a:rPr lang="sk-SK" sz="2400"/>
              <a:t> </a:t>
            </a:r>
            <a:r>
              <a:rPr lang="sk-SK" sz="2400" u="sng"/>
              <a:t>susedov</a:t>
            </a:r>
            <a:r>
              <a:rPr lang="sk-SK" sz="2400"/>
              <a:t>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sk-SK" sz="2400"/>
              <a:t>3. </a:t>
            </a:r>
            <a:r>
              <a:rPr b="1" lang="sk-SK" sz="2400">
                <a:solidFill>
                  <a:srgbClr val="B93A1C"/>
                </a:solidFill>
              </a:rPr>
              <a:t>VIACNÁSOBNÝ</a:t>
            </a:r>
            <a:r>
              <a:rPr b="1" lang="sk-SK" sz="2400"/>
              <a:t> – </a:t>
            </a:r>
            <a:r>
              <a:rPr lang="sk-SK" sz="2400"/>
              <a:t>vo vete je viac predmetov, ktoré spolu súvisia. Môžu byť oddelené čiarkou alebo spojené spojkou.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sk-SK" sz="2400"/>
              <a:t>Napr.: Mama stretla </a:t>
            </a:r>
            <a:r>
              <a:rPr lang="sk-SK" sz="2400" u="sng"/>
              <a:t>babku a dedka</a:t>
            </a:r>
            <a:r>
              <a:rPr lang="sk-SK" sz="2400"/>
              <a:t>.           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sk-SK" sz="2400"/>
              <a:t>Mama stretla </a:t>
            </a:r>
            <a:r>
              <a:rPr lang="sk-SK" sz="2400" u="sng"/>
              <a:t>babku, dedka a susedov</a:t>
            </a:r>
            <a:r>
              <a:rPr lang="sk-SK" sz="2400"/>
              <a:t>.	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sk-SK" sz="2400"/>
              <a:t> </a:t>
            </a:r>
            <a:endParaRPr/>
          </a:p>
          <a:p>
            <a:pPr indent="-111125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/>
          <p:nvPr/>
        </p:nvSpPr>
        <p:spPr>
          <a:xfrm>
            <a:off x="2932043" y="367748"/>
            <a:ext cx="6559827" cy="805069"/>
          </a:xfrm>
          <a:prstGeom prst="roundRect">
            <a:avLst>
              <a:gd fmla="val 16667" name="adj"/>
            </a:avLst>
          </a:prstGeom>
          <a:solidFill>
            <a:srgbClr val="DE9415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DVOJČLENNÁ VETA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1719470" y="1595231"/>
            <a:ext cx="1967948" cy="715617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PODMET -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vyjadrený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4661451" y="1478446"/>
            <a:ext cx="2286001" cy="949186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PRÍSUDOK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slovesný aj slovesno-menný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3687418" y="4959626"/>
            <a:ext cx="4045226" cy="129208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Mama číta </a:t>
            </a:r>
            <a:r>
              <a:rPr b="0" i="0" lang="sk-SK" sz="2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noviny</a:t>
            </a: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Videl som </a:t>
            </a:r>
            <a:r>
              <a:rPr b="0" i="0" lang="sk-SK" sz="2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susedu.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7205870" y="2701788"/>
            <a:ext cx="1967948" cy="715617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PREDMET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3891170" y="3851411"/>
            <a:ext cx="3637722" cy="71561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Priamy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(iba akuzatív bez predložky)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8463169" y="3851411"/>
            <a:ext cx="3260035" cy="899493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Nepriamy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(ostatné pády –</a:t>
            </a: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G, D, L, I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akuzatív s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predložkou</a:t>
            </a: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8368748" y="4959625"/>
            <a:ext cx="3448878" cy="129208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Idem </a:t>
            </a:r>
            <a:r>
              <a:rPr b="0" i="0" lang="sk-SK" sz="2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ňou</a:t>
            </a: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kina.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Stretli sme </a:t>
            </a:r>
            <a:r>
              <a:rPr b="0" i="0" lang="sk-SK" sz="2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ich</a:t>
            </a: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vonku.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sk-SK">
                <a:solidFill>
                  <a:srgbClr val="00B050"/>
                </a:solidFill>
              </a:rPr>
              <a:t>Príslovkové určenie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237" name="Google Shape;237;p23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sk-SK" sz="2800"/>
              <a:t>Vyjadruje okolnosti deja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sk-SK" sz="2800"/>
              <a:t>Pýtame sa na neho otázkami: KDE? KEDY? AKO? PREČO?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sk-SK" sz="2800"/>
              <a:t>Môže ho vyjadrovať – </a:t>
            </a:r>
            <a:r>
              <a:rPr b="1" lang="sk-SK" sz="2800"/>
              <a:t>príslovka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sk-SK" sz="2800"/>
              <a:t>			- predložka + podstatné meno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sk-SK" sz="2800"/>
              <a:t>			- zámeno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k-SK" sz="2800"/>
              <a:t>- Najčastejšie rozvíja prísudok</a:t>
            </a:r>
            <a:endParaRPr sz="2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sk-SK"/>
              <a:t>Príslovkové určenie poznáme:</a:t>
            </a:r>
            <a:endParaRPr/>
          </a:p>
        </p:txBody>
      </p:sp>
      <p:sp>
        <p:nvSpPr>
          <p:cNvPr id="243" name="Google Shape;243;p24"/>
          <p:cNvSpPr txBox="1"/>
          <p:nvPr>
            <p:ph idx="1" type="body"/>
          </p:nvPr>
        </p:nvSpPr>
        <p:spPr>
          <a:xfrm>
            <a:off x="612647" y="1715532"/>
            <a:ext cx="11135405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5322"/>
              </a:buClr>
              <a:buSzPts val="2000"/>
              <a:buAutoNum type="alphaLcParenR"/>
            </a:pPr>
            <a:r>
              <a:rPr b="1" lang="sk-SK">
                <a:solidFill>
                  <a:srgbClr val="D85322"/>
                </a:solidFill>
              </a:rPr>
              <a:t>MIESTA </a:t>
            </a:r>
            <a:r>
              <a:rPr lang="sk-SK"/>
              <a:t>– </a:t>
            </a:r>
            <a:r>
              <a:rPr b="1" lang="sk-SK"/>
              <a:t>kde ?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sk-SK"/>
              <a:t>        </a:t>
            </a:r>
            <a:r>
              <a:rPr lang="sk-SK"/>
              <a:t>Som </a:t>
            </a:r>
            <a:r>
              <a:rPr lang="sk-SK" u="sng"/>
              <a:t>v parku.</a:t>
            </a:r>
            <a:r>
              <a:rPr lang="sk-SK"/>
              <a:t>    Videli sme sa </a:t>
            </a:r>
            <a:r>
              <a:rPr lang="sk-SK" u="sng"/>
              <a:t>hore</a:t>
            </a:r>
            <a:r>
              <a:rPr lang="sk-SK"/>
              <a:t>.	          Kráčal </a:t>
            </a:r>
            <a:r>
              <a:rPr lang="sk-SK" u="sng"/>
              <a:t>pozdĺž jazera</a:t>
            </a:r>
            <a:r>
              <a:rPr lang="sk-SK"/>
              <a:t>.       </a:t>
            </a:r>
            <a:r>
              <a:rPr lang="sk-SK" u="sng"/>
              <a:t>Sem</a:t>
            </a:r>
            <a:r>
              <a:rPr lang="sk-SK"/>
              <a:t> sa nevracajte!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85322"/>
              </a:buClr>
              <a:buSzPts val="2000"/>
              <a:buAutoNum type="alphaLcParenR" startAt="2"/>
            </a:pPr>
            <a:r>
              <a:rPr b="1" lang="sk-SK">
                <a:solidFill>
                  <a:srgbClr val="D85322"/>
                </a:solidFill>
              </a:rPr>
              <a:t>ČASU</a:t>
            </a:r>
            <a:r>
              <a:rPr lang="sk-SK">
                <a:solidFill>
                  <a:srgbClr val="D85322"/>
                </a:solidFill>
              </a:rPr>
              <a:t> </a:t>
            </a:r>
            <a:r>
              <a:rPr lang="sk-SK"/>
              <a:t>– </a:t>
            </a:r>
            <a:r>
              <a:rPr b="1" lang="sk-SK"/>
              <a:t>kedy?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sk-SK"/>
              <a:t>        </a:t>
            </a:r>
            <a:r>
              <a:rPr lang="sk-SK" u="sng"/>
              <a:t>Skoro ráno </a:t>
            </a:r>
            <a:r>
              <a:rPr lang="sk-SK"/>
              <a:t>začína vyučovanie.	</a:t>
            </a:r>
            <a:r>
              <a:rPr lang="sk-SK" u="sng"/>
              <a:t>V pondelok </a:t>
            </a:r>
            <a:r>
              <a:rPr lang="sk-SK"/>
              <a:t>sa čakáme.	   Súťaž začala </a:t>
            </a:r>
            <a:r>
              <a:rPr lang="sk-SK" u="sng"/>
              <a:t>o 11. hodine.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85322"/>
              </a:buClr>
              <a:buSzPts val="2000"/>
              <a:buAutoNum type="alphaLcParenR" startAt="3"/>
            </a:pPr>
            <a:r>
              <a:rPr b="1" lang="sk-SK">
                <a:solidFill>
                  <a:srgbClr val="D85322"/>
                </a:solidFill>
              </a:rPr>
              <a:t>SPÔSOBU</a:t>
            </a:r>
            <a:r>
              <a:rPr b="1" lang="sk-SK"/>
              <a:t> – ako?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k-SK"/>
              <a:t>        </a:t>
            </a:r>
            <a:r>
              <a:rPr lang="sk-SK" u="sng"/>
              <a:t>Pomaly </a:t>
            </a:r>
            <a:r>
              <a:rPr lang="sk-SK"/>
              <a:t>sa blížil vlak.   Čítal knihu </a:t>
            </a:r>
            <a:r>
              <a:rPr lang="sk-SK" u="sng"/>
              <a:t>poležiačky</a:t>
            </a:r>
            <a:r>
              <a:rPr lang="sk-SK"/>
              <a:t>.      </a:t>
            </a:r>
            <a:r>
              <a:rPr lang="sk-SK" u="sng"/>
              <a:t>S radosťou </a:t>
            </a:r>
            <a:r>
              <a:rPr lang="sk-SK"/>
              <a:t>mi oznámil dobrú správu.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85322"/>
              </a:buClr>
              <a:buSzPts val="2000"/>
              <a:buAutoNum type="alphaLcParenR" startAt="4"/>
            </a:pPr>
            <a:r>
              <a:rPr b="1" lang="sk-SK">
                <a:solidFill>
                  <a:srgbClr val="D85322"/>
                </a:solidFill>
              </a:rPr>
              <a:t>PRÍČINY</a:t>
            </a:r>
            <a:r>
              <a:rPr b="1" lang="sk-SK"/>
              <a:t> – prečo?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sk-SK"/>
              <a:t>        </a:t>
            </a:r>
            <a:r>
              <a:rPr lang="sk-SK" u="sng"/>
              <a:t>Náročky</a:t>
            </a:r>
            <a:r>
              <a:rPr lang="sk-SK"/>
              <a:t> si nepriniesol prezuvky.    		</a:t>
            </a:r>
            <a:r>
              <a:rPr lang="sk-SK" u="sng"/>
              <a:t>Omylom</a:t>
            </a:r>
            <a:r>
              <a:rPr lang="sk-SK"/>
              <a:t> nasadol do iného vlaku.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sk-SK"/>
              <a:t>        </a:t>
            </a:r>
            <a:r>
              <a:rPr lang="sk-SK" u="sng"/>
              <a:t>Pre chorobu </a:t>
            </a:r>
            <a:r>
              <a:rPr lang="sk-SK"/>
              <a:t>neprišiel do školy.		Neprijali ho </a:t>
            </a:r>
            <a:r>
              <a:rPr lang="sk-SK" u="sng"/>
              <a:t>pre nedostatok </a:t>
            </a:r>
            <a:r>
              <a:rPr lang="sk-SK"/>
              <a:t>voľného miesta.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/>
          <p:nvPr/>
        </p:nvSpPr>
        <p:spPr>
          <a:xfrm>
            <a:off x="2932043" y="367748"/>
            <a:ext cx="6559827" cy="805069"/>
          </a:xfrm>
          <a:prstGeom prst="roundRect">
            <a:avLst>
              <a:gd fmla="val 16667" name="adj"/>
            </a:avLst>
          </a:prstGeom>
          <a:solidFill>
            <a:srgbClr val="DE9415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DVOJČLENNÁ VETA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278296" y="1356691"/>
            <a:ext cx="1967948" cy="715617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PODMET -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vyjadrený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2748169" y="1356691"/>
            <a:ext cx="2286001" cy="949186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PRÍSUDOK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slovesný aj slovesno-menný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2236305" y="2791240"/>
            <a:ext cx="1967948" cy="715617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PREDMET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3891166" y="3769413"/>
            <a:ext cx="3260035" cy="119021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Miesta – kde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bol som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doma,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bol som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dome,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bol som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</a:t>
            </a:r>
            <a:endParaRPr b="0" i="0" sz="20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6781800" y="2791240"/>
            <a:ext cx="2710069" cy="715617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PRÍSLOVKOVÉ URČENIE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8454886" y="3697357"/>
            <a:ext cx="3260035" cy="1355033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Času  – kedy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prídem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zajtra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prídem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11. hodine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prídem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utorok</a:t>
            </a:r>
            <a:endParaRPr b="0" i="0" sz="20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3891165" y="5243718"/>
            <a:ext cx="3260035" cy="119021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Spôsobu  – ako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pracoval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pokojne,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pracoval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ochotou</a:t>
            </a:r>
            <a:endParaRPr b="0" i="0" sz="20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8454886" y="5316605"/>
            <a:ext cx="3260035" cy="119021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Príčiny - prečo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neprišiel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 chorobu,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neprišiel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omylom,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neprišiel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náročky</a:t>
            </a:r>
            <a:endParaRPr b="0" i="0" sz="20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5322"/>
              </a:buClr>
              <a:buSzPts val="4800"/>
              <a:buFont typeface="Arial"/>
              <a:buNone/>
            </a:pPr>
            <a:r>
              <a:rPr lang="sk-SK" sz="4800">
                <a:solidFill>
                  <a:srgbClr val="D85322"/>
                </a:solidFill>
              </a:rPr>
              <a:t>Prívlastok</a:t>
            </a:r>
            <a:endParaRPr sz="4800">
              <a:solidFill>
                <a:srgbClr val="D85322"/>
              </a:solidFill>
            </a:endParaRPr>
          </a:p>
        </p:txBody>
      </p:sp>
      <p:sp>
        <p:nvSpPr>
          <p:cNvPr id="262" name="Google Shape;262;p26"/>
          <p:cNvSpPr txBox="1"/>
          <p:nvPr>
            <p:ph idx="1" type="body"/>
          </p:nvPr>
        </p:nvSpPr>
        <p:spPr>
          <a:xfrm>
            <a:off x="243069" y="1435261"/>
            <a:ext cx="11482086" cy="5208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sk-SK" sz="3000"/>
              <a:t>Rozvíja podmet, predmet, príslovkové určenie (hocijakú osobu, zviera, vec, ...)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sk-SK" sz="3000"/>
              <a:t>Prívlastkom môže byť – prídavné meno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sk-SK" sz="3000"/>
              <a:t>			       - zámeno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sk-SK" sz="3000"/>
              <a:t>			       - číslovka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sk-SK" sz="3000"/>
              <a:t>			       - aj podstatné meno (ako nezhodný prívlastok)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sk-SK" sz="3000"/>
              <a:t>			       - príslovka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sk-SK" sz="3000"/>
              <a:t>			       - neurčitok slovesa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sk-SK" sz="3000"/>
              <a:t>Pýtame sa na neho: </a:t>
            </a:r>
            <a:r>
              <a:rPr b="1" lang="sk-SK" sz="3000"/>
              <a:t>AKÝ? KTORÝ? KOĽKÝ? ČÍ?</a:t>
            </a:r>
            <a:endParaRPr/>
          </a:p>
          <a:p>
            <a:pPr indent="-111125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111125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sk-SK"/>
              <a:t>Prívlastok poznáme:</a:t>
            </a:r>
            <a:endParaRPr/>
          </a:p>
        </p:txBody>
      </p:sp>
      <p:sp>
        <p:nvSpPr>
          <p:cNvPr id="268" name="Google Shape;268;p27"/>
          <p:cNvSpPr txBox="1"/>
          <p:nvPr>
            <p:ph idx="1" type="body"/>
          </p:nvPr>
        </p:nvSpPr>
        <p:spPr>
          <a:xfrm>
            <a:off x="612647" y="1099595"/>
            <a:ext cx="11239829" cy="5209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5322"/>
              </a:buClr>
              <a:buSzPts val="2600"/>
              <a:buChar char="•"/>
            </a:pPr>
            <a:r>
              <a:rPr b="1" lang="sk-SK" sz="2600">
                <a:solidFill>
                  <a:srgbClr val="D85322"/>
                </a:solidFill>
              </a:rPr>
              <a:t>ZHODNÝ</a:t>
            </a:r>
            <a:r>
              <a:rPr lang="sk-SK" sz="2600"/>
              <a:t> – </a:t>
            </a:r>
            <a:r>
              <a:rPr b="1" lang="sk-SK" sz="2600"/>
              <a:t>zhoduje sa </a:t>
            </a:r>
            <a:r>
              <a:rPr lang="sk-SK" sz="2600"/>
              <a:t>v gramatických kategóriách (rod, číslo, pád)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sk-SK" sz="2600"/>
              <a:t>    Napríklad:     </a:t>
            </a:r>
            <a:r>
              <a:rPr i="1" lang="sk-SK" sz="2600" u="sng">
                <a:solidFill>
                  <a:srgbClr val="D85322"/>
                </a:solidFill>
              </a:rPr>
              <a:t>výreční</a:t>
            </a:r>
            <a:r>
              <a:rPr i="1" lang="sk-SK" sz="2600"/>
              <a:t> ľudia</a:t>
            </a:r>
            <a:r>
              <a:rPr lang="sk-SK" sz="2600"/>
              <a:t> – mužský rod, N, množ. číslo,    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i="1" lang="sk-SK" sz="2600"/>
              <a:t>                           </a:t>
            </a:r>
            <a:r>
              <a:rPr i="1" lang="sk-SK" sz="2600" u="sng">
                <a:solidFill>
                  <a:srgbClr val="D85322"/>
                </a:solidFill>
              </a:rPr>
              <a:t>moja</a:t>
            </a:r>
            <a:r>
              <a:rPr i="1" lang="sk-SK" sz="2600"/>
              <a:t> sestra</a:t>
            </a:r>
            <a:r>
              <a:rPr lang="sk-SK" sz="2600"/>
              <a:t> – ženský rod, N, jedn. číslo </a:t>
            </a:r>
            <a:endParaRPr sz="26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85322"/>
              </a:buClr>
              <a:buSzPts val="2600"/>
              <a:buChar char="•"/>
            </a:pPr>
            <a:r>
              <a:rPr b="1" lang="sk-SK" sz="2600">
                <a:solidFill>
                  <a:srgbClr val="D85322"/>
                </a:solidFill>
              </a:rPr>
              <a:t>NEZHODNÝ</a:t>
            </a:r>
            <a:r>
              <a:rPr lang="sk-SK" sz="2600"/>
              <a:t> – s podstatným menom </a:t>
            </a:r>
            <a:r>
              <a:rPr b="1" lang="sk-SK" sz="2600"/>
              <a:t>sa nezhoduje </a:t>
            </a:r>
            <a:r>
              <a:rPr lang="sk-SK" sz="2600"/>
              <a:t>v rode, čísle a páde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sk-SK" sz="2600"/>
              <a:t>    Napríklad:    príchod </a:t>
            </a:r>
            <a:r>
              <a:rPr lang="sk-SK" sz="2600" u="sng">
                <a:solidFill>
                  <a:srgbClr val="D85322"/>
                </a:solidFill>
              </a:rPr>
              <a:t>do mesta </a:t>
            </a:r>
            <a:r>
              <a:rPr lang="sk-SK" sz="2600">
                <a:solidFill>
                  <a:srgbClr val="D85322"/>
                </a:solidFill>
              </a:rPr>
              <a:t> (aký príchod? Do mesta)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85322"/>
              </a:buClr>
              <a:buSzPts val="2600"/>
              <a:buNone/>
            </a:pPr>
            <a:r>
              <a:rPr lang="sk-SK" sz="2600">
                <a:solidFill>
                  <a:srgbClr val="D85322"/>
                </a:solidFill>
              </a:rPr>
              <a:t>	            </a:t>
            </a:r>
            <a:r>
              <a:rPr lang="sk-SK" sz="2600"/>
              <a:t>jednotka </a:t>
            </a:r>
            <a:r>
              <a:rPr lang="sk-SK" sz="2600" u="sng">
                <a:solidFill>
                  <a:srgbClr val="D85322"/>
                </a:solidFill>
              </a:rPr>
              <a:t>ako odmena </a:t>
            </a:r>
            <a:r>
              <a:rPr lang="sk-SK" sz="2600">
                <a:solidFill>
                  <a:srgbClr val="D85322"/>
                </a:solidFill>
              </a:rPr>
              <a:t>(Akú jednotku? Ako odmenu.)</a:t>
            </a:r>
            <a:endParaRPr sz="2600" u="sng">
              <a:solidFill>
                <a:srgbClr val="D85322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sk-SK" sz="2600"/>
              <a:t>	            pohľad </a:t>
            </a:r>
            <a:r>
              <a:rPr lang="sk-SK" sz="2600" u="sng">
                <a:solidFill>
                  <a:srgbClr val="D85322"/>
                </a:solidFill>
              </a:rPr>
              <a:t>zhora</a:t>
            </a:r>
            <a:r>
              <a:rPr lang="sk-SK" sz="2600">
                <a:solidFill>
                  <a:srgbClr val="D85322"/>
                </a:solidFill>
              </a:rPr>
              <a:t> (Aký pohľad? Pohľad zhora)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sk-SK" sz="2600"/>
              <a:t>	            chuť </a:t>
            </a:r>
            <a:r>
              <a:rPr lang="sk-SK" sz="2600" u="sng">
                <a:solidFill>
                  <a:srgbClr val="D85322"/>
                </a:solidFill>
              </a:rPr>
              <a:t>žiť </a:t>
            </a:r>
            <a:r>
              <a:rPr lang="sk-SK" sz="2600">
                <a:solidFill>
                  <a:srgbClr val="D85322"/>
                </a:solidFill>
              </a:rPr>
              <a:t> (Akú chuť? Chuť žiť)</a:t>
            </a:r>
            <a:r>
              <a:rPr lang="sk-SK" sz="2600"/>
              <a:t> </a:t>
            </a:r>
            <a:endParaRPr sz="2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sk-SK"/>
              <a:t>Ďalšie prívlastky:</a:t>
            </a:r>
            <a:endParaRPr/>
          </a:p>
        </p:txBody>
      </p:sp>
      <p:sp>
        <p:nvSpPr>
          <p:cNvPr id="274" name="Google Shape;274;p28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sk-SK" sz="2800"/>
              <a:t>Viacnásobný: </a:t>
            </a:r>
            <a:r>
              <a:rPr lang="sk-SK" sz="2800"/>
              <a:t>slová pomenúvajú podobnú kvalitu, píšeme medzi nimi čiarku: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sk-SK" sz="2800"/>
              <a:t>   </a:t>
            </a:r>
            <a:r>
              <a:rPr lang="sk-SK" sz="2800"/>
              <a:t>Napríklad: </a:t>
            </a:r>
            <a:r>
              <a:rPr lang="sk-SK" sz="2800" u="sng">
                <a:solidFill>
                  <a:srgbClr val="D85322"/>
                </a:solidFill>
              </a:rPr>
              <a:t>šikovný, usilovný</a:t>
            </a:r>
            <a:r>
              <a:rPr lang="sk-SK" sz="2800"/>
              <a:t> chlapec  (s čiarkou)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sk-SK" sz="2800"/>
              <a:t>Postupne rozvíjajúci: </a:t>
            </a:r>
            <a:r>
              <a:rPr lang="sk-SK" sz="2800"/>
              <a:t>každé slovo pomenúva inú kvalitu.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sk-SK" sz="2800"/>
              <a:t>   </a:t>
            </a:r>
            <a:r>
              <a:rPr lang="sk-SK" sz="2800"/>
              <a:t>Napríklad: </a:t>
            </a:r>
            <a:r>
              <a:rPr lang="sk-SK" sz="2800" u="sng">
                <a:solidFill>
                  <a:srgbClr val="D85322"/>
                </a:solidFill>
              </a:rPr>
              <a:t>dlhé čierne</a:t>
            </a:r>
            <a:r>
              <a:rPr lang="sk-SK" sz="2800"/>
              <a:t> vlasy (bez čiarky)</a:t>
            </a:r>
            <a:endParaRPr b="1"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/>
          <p:nvPr/>
        </p:nvSpPr>
        <p:spPr>
          <a:xfrm>
            <a:off x="2932043" y="367748"/>
            <a:ext cx="6559827" cy="805069"/>
          </a:xfrm>
          <a:prstGeom prst="roundRect">
            <a:avLst>
              <a:gd fmla="val 16667" name="adj"/>
            </a:avLst>
          </a:prstGeom>
          <a:solidFill>
            <a:srgbClr val="DE9415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DVOJČLENNÁ VETA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9"/>
          <p:cNvSpPr/>
          <p:nvPr/>
        </p:nvSpPr>
        <p:spPr>
          <a:xfrm>
            <a:off x="2932043" y="1616963"/>
            <a:ext cx="1967948" cy="715617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PODMET -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vyjadrený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9"/>
          <p:cNvSpPr/>
          <p:nvPr/>
        </p:nvSpPr>
        <p:spPr>
          <a:xfrm>
            <a:off x="5948272" y="1388051"/>
            <a:ext cx="2286001" cy="949186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PRÍSUDOK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slovesný aj slovesno-menný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9"/>
          <p:cNvSpPr/>
          <p:nvPr/>
        </p:nvSpPr>
        <p:spPr>
          <a:xfrm>
            <a:off x="9239764" y="2650187"/>
            <a:ext cx="1967948" cy="715617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PREDMET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9"/>
          <p:cNvSpPr/>
          <p:nvPr/>
        </p:nvSpPr>
        <p:spPr>
          <a:xfrm>
            <a:off x="9080110" y="3743809"/>
            <a:ext cx="2710069" cy="715617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PRÍSLOVKOVÉ URČENIE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9"/>
          <p:cNvSpPr/>
          <p:nvPr/>
        </p:nvSpPr>
        <p:spPr>
          <a:xfrm>
            <a:off x="405881" y="4101618"/>
            <a:ext cx="3260035" cy="1355033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ZHODNÝ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silná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zostava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tamtí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mládenci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náš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dvor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4460402" y="4126393"/>
            <a:ext cx="3260035" cy="119021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NEZHODNÝ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cesta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mesta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moc (sila)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zvíťaziť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beh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diaľky</a:t>
            </a:r>
            <a:endParaRPr b="0" i="0" sz="20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9"/>
          <p:cNvSpPr/>
          <p:nvPr/>
        </p:nvSpPr>
        <p:spPr>
          <a:xfrm>
            <a:off x="481122" y="2650188"/>
            <a:ext cx="1967948" cy="715617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PRÍVLASTOK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"/>
          <p:cNvSpPr/>
          <p:nvPr/>
        </p:nvSpPr>
        <p:spPr>
          <a:xfrm>
            <a:off x="2932043" y="367748"/>
            <a:ext cx="6559827" cy="805069"/>
          </a:xfrm>
          <a:prstGeom prst="roundRect">
            <a:avLst>
              <a:gd fmla="val 16667" name="adj"/>
            </a:avLst>
          </a:prstGeom>
          <a:solidFill>
            <a:srgbClr val="DE9415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DVOJČLENNÁ VETA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0"/>
          <p:cNvSpPr/>
          <p:nvPr/>
        </p:nvSpPr>
        <p:spPr>
          <a:xfrm>
            <a:off x="1679713" y="1977887"/>
            <a:ext cx="2703444" cy="556591"/>
          </a:xfrm>
          <a:prstGeom prst="roundRect">
            <a:avLst>
              <a:gd fmla="val 16667" name="adj"/>
            </a:avLst>
          </a:prstGeom>
          <a:solidFill>
            <a:srgbClr val="F2C67A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ÚPLNÁ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0"/>
          <p:cNvSpPr/>
          <p:nvPr/>
        </p:nvSpPr>
        <p:spPr>
          <a:xfrm>
            <a:off x="7765774" y="2030894"/>
            <a:ext cx="2703444" cy="556591"/>
          </a:xfrm>
          <a:prstGeom prst="roundRect">
            <a:avLst>
              <a:gd fmla="val 16667" name="adj"/>
            </a:avLst>
          </a:prstGeom>
          <a:solidFill>
            <a:srgbClr val="F2C67A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NEÚPLNÁ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0"/>
          <p:cNvSpPr/>
          <p:nvPr/>
        </p:nvSpPr>
        <p:spPr>
          <a:xfrm>
            <a:off x="298174" y="3180522"/>
            <a:ext cx="1967948" cy="715617"/>
          </a:xfrm>
          <a:prstGeom prst="rect">
            <a:avLst/>
          </a:prstGeom>
          <a:solidFill>
            <a:srgbClr val="A8DAC8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PODMET -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vyjadrený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0"/>
          <p:cNvSpPr/>
          <p:nvPr/>
        </p:nvSpPr>
        <p:spPr>
          <a:xfrm>
            <a:off x="2932043" y="3165614"/>
            <a:ext cx="2286001" cy="949186"/>
          </a:xfrm>
          <a:prstGeom prst="rect">
            <a:avLst/>
          </a:prstGeom>
          <a:solidFill>
            <a:srgbClr val="A8DAC8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PRÍSUDOK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slovesný aj slovesno-menný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0"/>
          <p:cNvSpPr/>
          <p:nvPr/>
        </p:nvSpPr>
        <p:spPr>
          <a:xfrm>
            <a:off x="298174" y="4532243"/>
            <a:ext cx="5168347" cy="129208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Náš</a:t>
            </a:r>
            <a:r>
              <a:rPr b="1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pes</a:t>
            </a: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sk-SK" sz="2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štekal</a:t>
            </a: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všetkých ľudí</a:t>
            </a:r>
            <a:r>
              <a:rPr b="0" i="0" lang="sk-SK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Štyria </a:t>
            </a: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požičali kajak.</a:t>
            </a:r>
            <a:endParaRPr/>
          </a:p>
        </p:txBody>
      </p:sp>
      <p:sp>
        <p:nvSpPr>
          <p:cNvPr id="297" name="Google Shape;297;p30"/>
          <p:cNvSpPr/>
          <p:nvPr/>
        </p:nvSpPr>
        <p:spPr>
          <a:xfrm>
            <a:off x="6781800" y="3148221"/>
            <a:ext cx="1967948" cy="715617"/>
          </a:xfrm>
          <a:prstGeom prst="rect">
            <a:avLst/>
          </a:prstGeom>
          <a:solidFill>
            <a:srgbClr val="A8DAC8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PODMET - ne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vyjadrený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0"/>
          <p:cNvSpPr/>
          <p:nvPr/>
        </p:nvSpPr>
        <p:spPr>
          <a:xfrm>
            <a:off x="9703904" y="3148221"/>
            <a:ext cx="2286001" cy="949186"/>
          </a:xfrm>
          <a:prstGeom prst="rect">
            <a:avLst/>
          </a:prstGeom>
          <a:solidFill>
            <a:srgbClr val="A8DAC8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PRÍSUDOK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slovesný aj slovesno-menný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0"/>
          <p:cNvSpPr/>
          <p:nvPr/>
        </p:nvSpPr>
        <p:spPr>
          <a:xfrm>
            <a:off x="6579704" y="4684642"/>
            <a:ext cx="5280992" cy="152731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Navštívili sme  starých rodičov.   </a:t>
            </a:r>
            <a:r>
              <a:rPr b="1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(my)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Včera som vyhral v súťaži.    </a:t>
            </a:r>
            <a:r>
              <a:rPr b="1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(ja)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"/>
          <p:cNvSpPr/>
          <p:nvPr/>
        </p:nvSpPr>
        <p:spPr>
          <a:xfrm>
            <a:off x="2932043" y="367748"/>
            <a:ext cx="6559827" cy="805069"/>
          </a:xfrm>
          <a:prstGeom prst="roundRect">
            <a:avLst>
              <a:gd fmla="val 16667" name="adj"/>
            </a:avLst>
          </a:prstGeom>
          <a:solidFill>
            <a:srgbClr val="DE9415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DVOJČLENNÁ VETA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1"/>
          <p:cNvSpPr/>
          <p:nvPr/>
        </p:nvSpPr>
        <p:spPr>
          <a:xfrm>
            <a:off x="1719470" y="1595231"/>
            <a:ext cx="1967948" cy="715617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PODMET -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vyjadrený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1"/>
          <p:cNvSpPr/>
          <p:nvPr/>
        </p:nvSpPr>
        <p:spPr>
          <a:xfrm>
            <a:off x="4661451" y="1478446"/>
            <a:ext cx="2286001" cy="949186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PRÍSUDOK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slovesný aj slovesno-menný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1"/>
          <p:cNvSpPr/>
          <p:nvPr/>
        </p:nvSpPr>
        <p:spPr>
          <a:xfrm>
            <a:off x="3687418" y="4959626"/>
            <a:ext cx="4045226" cy="129208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Mama číta </a:t>
            </a:r>
            <a:r>
              <a:rPr b="0" i="0" lang="sk-SK" sz="2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noviny</a:t>
            </a: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Videl som </a:t>
            </a:r>
            <a:r>
              <a:rPr b="0" i="0" lang="sk-SK" sz="2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susedu.</a:t>
            </a:r>
            <a:endParaRPr/>
          </a:p>
        </p:txBody>
      </p:sp>
      <p:sp>
        <p:nvSpPr>
          <p:cNvPr id="308" name="Google Shape;308;p31"/>
          <p:cNvSpPr/>
          <p:nvPr/>
        </p:nvSpPr>
        <p:spPr>
          <a:xfrm>
            <a:off x="7205870" y="2701788"/>
            <a:ext cx="1967948" cy="715617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PREDMET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1"/>
          <p:cNvSpPr/>
          <p:nvPr/>
        </p:nvSpPr>
        <p:spPr>
          <a:xfrm>
            <a:off x="3891170" y="3851411"/>
            <a:ext cx="3637722" cy="71561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Priamy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(iba akuzatív bez predložky)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8463169" y="3851411"/>
            <a:ext cx="3260035" cy="899493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Nepriamy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(ostatné pády –</a:t>
            </a: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G, D, L, I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akuzatív s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predložkou</a:t>
            </a: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8368748" y="4959625"/>
            <a:ext cx="3448878" cy="129208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Idem </a:t>
            </a:r>
            <a:r>
              <a:rPr b="0" i="0" lang="sk-SK" sz="2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ňou</a:t>
            </a: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kina.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Stretli sme </a:t>
            </a:r>
            <a:r>
              <a:rPr b="0" i="0" lang="sk-SK" sz="2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ich</a:t>
            </a:r>
            <a:r>
              <a:rPr b="0" i="0" lang="sk-SK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vonku.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"/>
          <p:cNvSpPr/>
          <p:nvPr/>
        </p:nvSpPr>
        <p:spPr>
          <a:xfrm>
            <a:off x="2932043" y="367748"/>
            <a:ext cx="6559827" cy="805069"/>
          </a:xfrm>
          <a:prstGeom prst="roundRect">
            <a:avLst>
              <a:gd fmla="val 16667" name="adj"/>
            </a:avLst>
          </a:prstGeom>
          <a:solidFill>
            <a:srgbClr val="DE9415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DVOJČLENNÁ VETA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2"/>
          <p:cNvSpPr/>
          <p:nvPr/>
        </p:nvSpPr>
        <p:spPr>
          <a:xfrm>
            <a:off x="278296" y="1356691"/>
            <a:ext cx="1967948" cy="715617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PODMET -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vyjadrený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2"/>
          <p:cNvSpPr/>
          <p:nvPr/>
        </p:nvSpPr>
        <p:spPr>
          <a:xfrm>
            <a:off x="2748169" y="1356691"/>
            <a:ext cx="2286001" cy="949186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PRÍSUDOK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slovesný aj slovesno-menný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2236305" y="2791240"/>
            <a:ext cx="1967948" cy="715617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PREDMET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3891166" y="3769413"/>
            <a:ext cx="3260035" cy="119021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Miesta – kde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bol som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doma,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bol som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dome,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bol som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</a:t>
            </a:r>
            <a:endParaRPr b="0" i="0" sz="20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2"/>
          <p:cNvSpPr/>
          <p:nvPr/>
        </p:nvSpPr>
        <p:spPr>
          <a:xfrm>
            <a:off x="6781800" y="2791240"/>
            <a:ext cx="2710069" cy="715617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PRÍSLOVKOVÉ URČENIE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2"/>
          <p:cNvSpPr/>
          <p:nvPr/>
        </p:nvSpPr>
        <p:spPr>
          <a:xfrm>
            <a:off x="8454886" y="3697357"/>
            <a:ext cx="3260035" cy="1355033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Času  – kedy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prídem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zajtra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prídem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11. hodine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prídem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utorok</a:t>
            </a:r>
            <a:endParaRPr b="0" i="0" sz="20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2"/>
          <p:cNvSpPr/>
          <p:nvPr/>
        </p:nvSpPr>
        <p:spPr>
          <a:xfrm>
            <a:off x="3891165" y="5243718"/>
            <a:ext cx="3260035" cy="119021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Spôsobu  – ako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pracoval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pokojne,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pracoval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ochotou</a:t>
            </a:r>
            <a:endParaRPr b="0" i="0" sz="20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8454886" y="5316605"/>
            <a:ext cx="3260035" cy="119021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Príčiny - prečo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neprišiel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 chorobu,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neprišiel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omylom,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neprišiel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náročky</a:t>
            </a:r>
            <a:endParaRPr b="0" i="0" sz="20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"/>
          <p:cNvSpPr/>
          <p:nvPr/>
        </p:nvSpPr>
        <p:spPr>
          <a:xfrm>
            <a:off x="2932043" y="367748"/>
            <a:ext cx="6559827" cy="805069"/>
          </a:xfrm>
          <a:prstGeom prst="roundRect">
            <a:avLst>
              <a:gd fmla="val 16667" name="adj"/>
            </a:avLst>
          </a:prstGeom>
          <a:solidFill>
            <a:srgbClr val="DE9415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DVOJČLENNÁ VETA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3"/>
          <p:cNvSpPr/>
          <p:nvPr/>
        </p:nvSpPr>
        <p:spPr>
          <a:xfrm>
            <a:off x="2932043" y="1616963"/>
            <a:ext cx="1967948" cy="715617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PODMET -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vyjadrený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3"/>
          <p:cNvSpPr/>
          <p:nvPr/>
        </p:nvSpPr>
        <p:spPr>
          <a:xfrm>
            <a:off x="5948272" y="1388051"/>
            <a:ext cx="2286001" cy="949186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PRÍSUDOK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slovesný aj slovesno-menný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3"/>
          <p:cNvSpPr/>
          <p:nvPr/>
        </p:nvSpPr>
        <p:spPr>
          <a:xfrm>
            <a:off x="9239764" y="2650187"/>
            <a:ext cx="1967948" cy="715617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PREDMET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3"/>
          <p:cNvSpPr/>
          <p:nvPr/>
        </p:nvSpPr>
        <p:spPr>
          <a:xfrm>
            <a:off x="9080110" y="3743809"/>
            <a:ext cx="2710069" cy="715617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PRÍSLOVKOVÉ URČENIE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3"/>
          <p:cNvSpPr/>
          <p:nvPr/>
        </p:nvSpPr>
        <p:spPr>
          <a:xfrm>
            <a:off x="405881" y="4101618"/>
            <a:ext cx="3260035" cy="1355033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ZHODNÝ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silná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zostava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tamtí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mládenci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náš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dvor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3"/>
          <p:cNvSpPr/>
          <p:nvPr/>
        </p:nvSpPr>
        <p:spPr>
          <a:xfrm>
            <a:off x="4460402" y="4126393"/>
            <a:ext cx="3260035" cy="119021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NEZHODNÝ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cesta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mesta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moc (sila)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zvíťaziť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beh </a:t>
            </a:r>
            <a:r>
              <a:rPr b="0" i="0" lang="sk-SK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diaľky</a:t>
            </a:r>
            <a:endParaRPr b="0" i="0" sz="20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3"/>
          <p:cNvSpPr/>
          <p:nvPr/>
        </p:nvSpPr>
        <p:spPr>
          <a:xfrm>
            <a:off x="481122" y="2650188"/>
            <a:ext cx="1967948" cy="715617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PRÍVLASTOK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/>
          <p:nvPr/>
        </p:nvSpPr>
        <p:spPr>
          <a:xfrm>
            <a:off x="2932043" y="367748"/>
            <a:ext cx="6559827" cy="805069"/>
          </a:xfrm>
          <a:prstGeom prst="roundRect">
            <a:avLst>
              <a:gd fmla="val 16667" name="adj"/>
            </a:avLst>
          </a:prstGeom>
          <a:solidFill>
            <a:srgbClr val="DE9415"/>
          </a:solidFill>
          <a:ln cap="flat" cmpd="sng" w="127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DVOJČLENNÁ VETA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4"/>
          <p:cNvSpPr/>
          <p:nvPr/>
        </p:nvSpPr>
        <p:spPr>
          <a:xfrm>
            <a:off x="3461432" y="1586805"/>
            <a:ext cx="1967948" cy="946597"/>
          </a:xfrm>
          <a:prstGeom prst="rect">
            <a:avLst/>
          </a:prstGeom>
          <a:solidFill>
            <a:srgbClr val="F2F2F2"/>
          </a:solidFill>
          <a:ln cap="flat" cmpd="sng" w="28575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PODMET –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vyjadrený a nevyjadrený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4"/>
          <p:cNvSpPr/>
          <p:nvPr/>
        </p:nvSpPr>
        <p:spPr>
          <a:xfrm>
            <a:off x="5794268" y="1586805"/>
            <a:ext cx="2286001" cy="949186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1071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PRÍSUDOK </a:t>
            </a: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slovesný aj slovesno-menný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5996049" y="3631964"/>
            <a:ext cx="2550415" cy="715617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PREDMET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priamy a nepriamy</a:t>
            </a: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4"/>
          <p:cNvSpPr/>
          <p:nvPr/>
        </p:nvSpPr>
        <p:spPr>
          <a:xfrm>
            <a:off x="9214864" y="3599741"/>
            <a:ext cx="2807090" cy="1263839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PRÍSLOVKOVÉ URČENIE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miesta, času, spôsobu, príčiny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4"/>
          <p:cNvSpPr/>
          <p:nvPr/>
        </p:nvSpPr>
        <p:spPr>
          <a:xfrm>
            <a:off x="355992" y="3554963"/>
            <a:ext cx="2576051" cy="715617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PRÍVLASTOK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zhodný a nezhodný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34"/>
          <p:cNvCxnSpPr/>
          <p:nvPr/>
        </p:nvCxnSpPr>
        <p:spPr>
          <a:xfrm flipH="1">
            <a:off x="2839453" y="2535991"/>
            <a:ext cx="621979" cy="1018972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348" name="Google Shape;348;p34"/>
          <p:cNvCxnSpPr/>
          <p:nvPr/>
        </p:nvCxnSpPr>
        <p:spPr>
          <a:xfrm flipH="1">
            <a:off x="5996049" y="2527018"/>
            <a:ext cx="2084220" cy="1072723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349" name="Google Shape;349;p34"/>
          <p:cNvCxnSpPr/>
          <p:nvPr/>
        </p:nvCxnSpPr>
        <p:spPr>
          <a:xfrm>
            <a:off x="8080270" y="2535991"/>
            <a:ext cx="1134594" cy="106375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350" name="Google Shape;350;p34"/>
          <p:cNvSpPr/>
          <p:nvPr/>
        </p:nvSpPr>
        <p:spPr>
          <a:xfrm>
            <a:off x="2548948" y="5151153"/>
            <a:ext cx="2576051" cy="715617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PRÍVLASTOK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zhodný a nezhodný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34"/>
          <p:cNvCxnSpPr/>
          <p:nvPr/>
        </p:nvCxnSpPr>
        <p:spPr>
          <a:xfrm flipH="1">
            <a:off x="5106130" y="4326620"/>
            <a:ext cx="1042110" cy="824533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352" name="Google Shape;352;p34"/>
          <p:cNvSpPr/>
          <p:nvPr/>
        </p:nvSpPr>
        <p:spPr>
          <a:xfrm>
            <a:off x="6211956" y="5390180"/>
            <a:ext cx="2576051" cy="715617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PRÍVLASTOK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k-SK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zhodný a nezhodný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34"/>
          <p:cNvCxnSpPr/>
          <p:nvPr/>
        </p:nvCxnSpPr>
        <p:spPr>
          <a:xfrm flipH="1">
            <a:off x="8742667" y="4855592"/>
            <a:ext cx="521055" cy="534588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tív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2025-05-20T17:03:56Z</dcterms:created>
  <dc:creator>Alena Drinková</dc:creator>
</cp:coreProperties>
</file>